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1"/>
  </p:sldMasterIdLst>
  <p:sldIdLst>
    <p:sldId id="256" r:id="rId2"/>
    <p:sldId id="257" r:id="rId3"/>
    <p:sldId id="258" r:id="rId4"/>
    <p:sldId id="259" r:id="rId5"/>
    <p:sldId id="260" r:id="rId6"/>
    <p:sldId id="261" r:id="rId7"/>
    <p:sldId id="262" r:id="rId8"/>
    <p:sldId id="263" r:id="rId9"/>
    <p:sldId id="264"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7" d="100"/>
          <a:sy n="77" d="100"/>
        </p:scale>
        <p:origin x="912"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diagrams/_rels/data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svg"/><Relationship Id="rId1" Type="http://schemas.openxmlformats.org/officeDocument/2006/relationships/image" Target="../media/image2.png"/><Relationship Id="rId4" Type="http://schemas.openxmlformats.org/officeDocument/2006/relationships/image" Target="../media/image6.svg"/></Relationships>
</file>

<file path=ppt/diagrams/_rels/drawing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svg"/><Relationship Id="rId1" Type="http://schemas.openxmlformats.org/officeDocument/2006/relationships/image" Target="../media/image2.png"/><Relationship Id="rId4" Type="http://schemas.openxmlformats.org/officeDocument/2006/relationships/image" Target="../media/image6.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80ED9F6-0949-4112-80FA-36D31C8185AC}" type="doc">
      <dgm:prSet loTypeId="urn:microsoft.com/office/officeart/2018/5/layout/IconCircleLabelList" loCatId="icon" qsTypeId="urn:microsoft.com/office/officeart/2005/8/quickstyle/simple1" qsCatId="simple" csTypeId="urn:microsoft.com/office/officeart/2005/8/colors/accent1_2" csCatId="accent1" phldr="1"/>
      <dgm:spPr/>
      <dgm:t>
        <a:bodyPr/>
        <a:lstStyle/>
        <a:p>
          <a:endParaRPr lang="en-US"/>
        </a:p>
      </dgm:t>
    </dgm:pt>
    <dgm:pt modelId="{0CFC67AD-4B14-452B-89EC-110ACE64CC81}">
      <dgm:prSet/>
      <dgm:spPr/>
      <dgm:t>
        <a:bodyPr/>
        <a:lstStyle/>
        <a:p>
          <a:pPr>
            <a:lnSpc>
              <a:spcPct val="100000"/>
            </a:lnSpc>
            <a:defRPr cap="all"/>
          </a:pPr>
          <a:r>
            <a:rPr lang="en-US"/>
            <a:t>Data Collection</a:t>
          </a:r>
        </a:p>
      </dgm:t>
    </dgm:pt>
    <dgm:pt modelId="{63190F17-08A3-4877-9209-BA2D9765FF01}" type="parTrans" cxnId="{8A709941-82B1-495F-8CA2-076A57B6FC08}">
      <dgm:prSet/>
      <dgm:spPr/>
      <dgm:t>
        <a:bodyPr/>
        <a:lstStyle/>
        <a:p>
          <a:endParaRPr lang="en-US"/>
        </a:p>
      </dgm:t>
    </dgm:pt>
    <dgm:pt modelId="{F0FB3638-5278-4003-A682-CEFF2A535830}" type="sibTrans" cxnId="{8A709941-82B1-495F-8CA2-076A57B6FC08}">
      <dgm:prSet/>
      <dgm:spPr/>
      <dgm:t>
        <a:bodyPr/>
        <a:lstStyle/>
        <a:p>
          <a:endParaRPr lang="en-US"/>
        </a:p>
      </dgm:t>
    </dgm:pt>
    <dgm:pt modelId="{7C852B55-9111-4F13-826D-D19604FEFE30}">
      <dgm:prSet/>
      <dgm:spPr/>
      <dgm:t>
        <a:bodyPr/>
        <a:lstStyle/>
        <a:p>
          <a:pPr>
            <a:lnSpc>
              <a:spcPct val="100000"/>
            </a:lnSpc>
            <a:defRPr cap="all"/>
          </a:pPr>
          <a:r>
            <a:rPr lang="en-US"/>
            <a:t>Mode Building</a:t>
          </a:r>
        </a:p>
      </dgm:t>
    </dgm:pt>
    <dgm:pt modelId="{269B3A36-8035-456F-B8D6-CEF23B8FFE13}" type="parTrans" cxnId="{FC91570B-33BD-42BB-BF74-9A3376B90792}">
      <dgm:prSet/>
      <dgm:spPr/>
      <dgm:t>
        <a:bodyPr/>
        <a:lstStyle/>
        <a:p>
          <a:endParaRPr lang="en-US"/>
        </a:p>
      </dgm:t>
    </dgm:pt>
    <dgm:pt modelId="{CFCD83EE-D350-402A-B22B-C540BCC0583B}" type="sibTrans" cxnId="{FC91570B-33BD-42BB-BF74-9A3376B90792}">
      <dgm:prSet/>
      <dgm:spPr/>
      <dgm:t>
        <a:bodyPr/>
        <a:lstStyle/>
        <a:p>
          <a:endParaRPr lang="en-US"/>
        </a:p>
      </dgm:t>
    </dgm:pt>
    <dgm:pt modelId="{C6BC5341-22ED-4F3E-BF97-978EEDFAF33D}" type="pres">
      <dgm:prSet presAssocID="{280ED9F6-0949-4112-80FA-36D31C8185AC}" presName="root" presStyleCnt="0">
        <dgm:presLayoutVars>
          <dgm:dir/>
          <dgm:resizeHandles val="exact"/>
        </dgm:presLayoutVars>
      </dgm:prSet>
      <dgm:spPr/>
    </dgm:pt>
    <dgm:pt modelId="{6A40D38C-3E7C-435C-897C-DF542E1FF22E}" type="pres">
      <dgm:prSet presAssocID="{0CFC67AD-4B14-452B-89EC-110ACE64CC81}" presName="compNode" presStyleCnt="0"/>
      <dgm:spPr/>
    </dgm:pt>
    <dgm:pt modelId="{F13858DA-52E1-447E-A556-F44281B60C49}" type="pres">
      <dgm:prSet presAssocID="{0CFC67AD-4B14-452B-89EC-110ACE64CC81}" presName="iconBgRect" presStyleLbl="bgShp" presStyleIdx="0" presStyleCnt="2"/>
      <dgm:spPr/>
    </dgm:pt>
    <dgm:pt modelId="{E4DC8B86-832C-49E9-A8D3-D11F3BB1E496}" type="pres">
      <dgm:prSet presAssocID="{0CFC67AD-4B14-452B-89EC-110ACE64CC81}"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Database"/>
        </a:ext>
      </dgm:extLst>
    </dgm:pt>
    <dgm:pt modelId="{E3678B7C-242A-4C91-B3AB-2B174F1FA7C7}" type="pres">
      <dgm:prSet presAssocID="{0CFC67AD-4B14-452B-89EC-110ACE64CC81}" presName="spaceRect" presStyleCnt="0"/>
      <dgm:spPr/>
    </dgm:pt>
    <dgm:pt modelId="{D72986E0-4DA4-4FFE-9C73-299B3BA3A729}" type="pres">
      <dgm:prSet presAssocID="{0CFC67AD-4B14-452B-89EC-110ACE64CC81}" presName="textRect" presStyleLbl="revTx" presStyleIdx="0" presStyleCnt="2">
        <dgm:presLayoutVars>
          <dgm:chMax val="1"/>
          <dgm:chPref val="1"/>
        </dgm:presLayoutVars>
      </dgm:prSet>
      <dgm:spPr/>
    </dgm:pt>
    <dgm:pt modelId="{B5E04535-FFDF-463E-9E35-7315C4F26CD1}" type="pres">
      <dgm:prSet presAssocID="{F0FB3638-5278-4003-A682-CEFF2A535830}" presName="sibTrans" presStyleCnt="0"/>
      <dgm:spPr/>
    </dgm:pt>
    <dgm:pt modelId="{F72AA3F7-AD5A-442E-889C-F40ACD7E2702}" type="pres">
      <dgm:prSet presAssocID="{7C852B55-9111-4F13-826D-D19604FEFE30}" presName="compNode" presStyleCnt="0"/>
      <dgm:spPr/>
    </dgm:pt>
    <dgm:pt modelId="{1ACA4066-DBC0-4DAD-9478-05D99AEF7FC6}" type="pres">
      <dgm:prSet presAssocID="{7C852B55-9111-4F13-826D-D19604FEFE30}" presName="iconBgRect" presStyleLbl="bgShp" presStyleIdx="1" presStyleCnt="2"/>
      <dgm:spPr/>
    </dgm:pt>
    <dgm:pt modelId="{BCA4E41A-FC07-4D6A-A8B1-22DAE8BE2470}" type="pres">
      <dgm:prSet presAssocID="{7C852B55-9111-4F13-826D-D19604FEFE30}"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City"/>
        </a:ext>
      </dgm:extLst>
    </dgm:pt>
    <dgm:pt modelId="{0EC33C68-35AD-4F6A-9B39-298F0D5BE648}" type="pres">
      <dgm:prSet presAssocID="{7C852B55-9111-4F13-826D-D19604FEFE30}" presName="spaceRect" presStyleCnt="0"/>
      <dgm:spPr/>
    </dgm:pt>
    <dgm:pt modelId="{B7EB7F31-D75E-4873-8408-953F872EBE52}" type="pres">
      <dgm:prSet presAssocID="{7C852B55-9111-4F13-826D-D19604FEFE30}" presName="textRect" presStyleLbl="revTx" presStyleIdx="1" presStyleCnt="2">
        <dgm:presLayoutVars>
          <dgm:chMax val="1"/>
          <dgm:chPref val="1"/>
        </dgm:presLayoutVars>
      </dgm:prSet>
      <dgm:spPr/>
    </dgm:pt>
  </dgm:ptLst>
  <dgm:cxnLst>
    <dgm:cxn modelId="{FC91570B-33BD-42BB-BF74-9A3376B90792}" srcId="{280ED9F6-0949-4112-80FA-36D31C8185AC}" destId="{7C852B55-9111-4F13-826D-D19604FEFE30}" srcOrd="1" destOrd="0" parTransId="{269B3A36-8035-456F-B8D6-CEF23B8FFE13}" sibTransId="{CFCD83EE-D350-402A-B22B-C540BCC0583B}"/>
    <dgm:cxn modelId="{D9F0EB24-34AE-472F-8AE8-43C9603A7B48}" type="presOf" srcId="{7C852B55-9111-4F13-826D-D19604FEFE30}" destId="{B7EB7F31-D75E-4873-8408-953F872EBE52}" srcOrd="0" destOrd="0" presId="urn:microsoft.com/office/officeart/2018/5/layout/IconCircleLabelList"/>
    <dgm:cxn modelId="{8A709941-82B1-495F-8CA2-076A57B6FC08}" srcId="{280ED9F6-0949-4112-80FA-36D31C8185AC}" destId="{0CFC67AD-4B14-452B-89EC-110ACE64CC81}" srcOrd="0" destOrd="0" parTransId="{63190F17-08A3-4877-9209-BA2D9765FF01}" sibTransId="{F0FB3638-5278-4003-A682-CEFF2A535830}"/>
    <dgm:cxn modelId="{0D44B548-917F-485E-AA65-6929F9D00E43}" type="presOf" srcId="{280ED9F6-0949-4112-80FA-36D31C8185AC}" destId="{C6BC5341-22ED-4F3E-BF97-978EEDFAF33D}" srcOrd="0" destOrd="0" presId="urn:microsoft.com/office/officeart/2018/5/layout/IconCircleLabelList"/>
    <dgm:cxn modelId="{420CF8F4-6BA2-455A-AE14-C3B76A65A4B7}" type="presOf" srcId="{0CFC67AD-4B14-452B-89EC-110ACE64CC81}" destId="{D72986E0-4DA4-4FFE-9C73-299B3BA3A729}" srcOrd="0" destOrd="0" presId="urn:microsoft.com/office/officeart/2018/5/layout/IconCircleLabelList"/>
    <dgm:cxn modelId="{40459038-6B5B-44A5-9BC8-0E8F5167A9D2}" type="presParOf" srcId="{C6BC5341-22ED-4F3E-BF97-978EEDFAF33D}" destId="{6A40D38C-3E7C-435C-897C-DF542E1FF22E}" srcOrd="0" destOrd="0" presId="urn:microsoft.com/office/officeart/2018/5/layout/IconCircleLabelList"/>
    <dgm:cxn modelId="{3A652CC8-9AA1-4005-9F91-F4417285D3C5}" type="presParOf" srcId="{6A40D38C-3E7C-435C-897C-DF542E1FF22E}" destId="{F13858DA-52E1-447E-A556-F44281B60C49}" srcOrd="0" destOrd="0" presId="urn:microsoft.com/office/officeart/2018/5/layout/IconCircleLabelList"/>
    <dgm:cxn modelId="{7DE3DC97-1E4A-41B8-B805-F3339188112E}" type="presParOf" srcId="{6A40D38C-3E7C-435C-897C-DF542E1FF22E}" destId="{E4DC8B86-832C-49E9-A8D3-D11F3BB1E496}" srcOrd="1" destOrd="0" presId="urn:microsoft.com/office/officeart/2018/5/layout/IconCircleLabelList"/>
    <dgm:cxn modelId="{13A4FE04-6BD9-4423-B942-45C67B75BB2E}" type="presParOf" srcId="{6A40D38C-3E7C-435C-897C-DF542E1FF22E}" destId="{E3678B7C-242A-4C91-B3AB-2B174F1FA7C7}" srcOrd="2" destOrd="0" presId="urn:microsoft.com/office/officeart/2018/5/layout/IconCircleLabelList"/>
    <dgm:cxn modelId="{D94AE1AF-E2AB-49B3-81AB-83DDB30BED9B}" type="presParOf" srcId="{6A40D38C-3E7C-435C-897C-DF542E1FF22E}" destId="{D72986E0-4DA4-4FFE-9C73-299B3BA3A729}" srcOrd="3" destOrd="0" presId="urn:microsoft.com/office/officeart/2018/5/layout/IconCircleLabelList"/>
    <dgm:cxn modelId="{6542085A-AA5A-4935-96B4-3BD80F8EEA8C}" type="presParOf" srcId="{C6BC5341-22ED-4F3E-BF97-978EEDFAF33D}" destId="{B5E04535-FFDF-463E-9E35-7315C4F26CD1}" srcOrd="1" destOrd="0" presId="urn:microsoft.com/office/officeart/2018/5/layout/IconCircleLabelList"/>
    <dgm:cxn modelId="{0B4D3F88-CDE9-473D-A5C5-AD096544BCE6}" type="presParOf" srcId="{C6BC5341-22ED-4F3E-BF97-978EEDFAF33D}" destId="{F72AA3F7-AD5A-442E-889C-F40ACD7E2702}" srcOrd="2" destOrd="0" presId="urn:microsoft.com/office/officeart/2018/5/layout/IconCircleLabelList"/>
    <dgm:cxn modelId="{879637EB-5DAF-4FBE-B4E0-769164CD24C0}" type="presParOf" srcId="{F72AA3F7-AD5A-442E-889C-F40ACD7E2702}" destId="{1ACA4066-DBC0-4DAD-9478-05D99AEF7FC6}" srcOrd="0" destOrd="0" presId="urn:microsoft.com/office/officeart/2018/5/layout/IconCircleLabelList"/>
    <dgm:cxn modelId="{E49EC7EF-EDDB-41CD-94C7-BA928B9650B3}" type="presParOf" srcId="{F72AA3F7-AD5A-442E-889C-F40ACD7E2702}" destId="{BCA4E41A-FC07-4D6A-A8B1-22DAE8BE2470}" srcOrd="1" destOrd="0" presId="urn:microsoft.com/office/officeart/2018/5/layout/IconCircleLabelList"/>
    <dgm:cxn modelId="{0142D7AA-E3FA-4608-8A70-F3C1E4FF4288}" type="presParOf" srcId="{F72AA3F7-AD5A-442E-889C-F40ACD7E2702}" destId="{0EC33C68-35AD-4F6A-9B39-298F0D5BE648}" srcOrd="2" destOrd="0" presId="urn:microsoft.com/office/officeart/2018/5/layout/IconCircleLabelList"/>
    <dgm:cxn modelId="{F4AF7691-116A-4E0C-91B5-CCC72FC252AA}" type="presParOf" srcId="{F72AA3F7-AD5A-442E-889C-F40ACD7E2702}" destId="{B7EB7F31-D75E-4873-8408-953F872EBE52}" srcOrd="3" destOrd="0" presId="urn:microsoft.com/office/officeart/2018/5/layout/IconCircle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13858DA-52E1-447E-A556-F44281B60C49}">
      <dsp:nvSpPr>
        <dsp:cNvPr id="0" name=""/>
        <dsp:cNvSpPr/>
      </dsp:nvSpPr>
      <dsp:spPr>
        <a:xfrm>
          <a:off x="1789450" y="15306"/>
          <a:ext cx="2058750" cy="2058750"/>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4DC8B86-832C-49E9-A8D3-D11F3BB1E496}">
      <dsp:nvSpPr>
        <dsp:cNvPr id="0" name=""/>
        <dsp:cNvSpPr/>
      </dsp:nvSpPr>
      <dsp:spPr>
        <a:xfrm>
          <a:off x="2228200" y="454056"/>
          <a:ext cx="1181250" cy="118125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72986E0-4DA4-4FFE-9C73-299B3BA3A729}">
      <dsp:nvSpPr>
        <dsp:cNvPr id="0" name=""/>
        <dsp:cNvSpPr/>
      </dsp:nvSpPr>
      <dsp:spPr>
        <a:xfrm>
          <a:off x="1131325" y="2715306"/>
          <a:ext cx="3375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289050">
            <a:lnSpc>
              <a:spcPct val="100000"/>
            </a:lnSpc>
            <a:spcBef>
              <a:spcPct val="0"/>
            </a:spcBef>
            <a:spcAft>
              <a:spcPct val="35000"/>
            </a:spcAft>
            <a:buNone/>
            <a:defRPr cap="all"/>
          </a:pPr>
          <a:r>
            <a:rPr lang="en-US" sz="2900" kern="1200"/>
            <a:t>Data Collection</a:t>
          </a:r>
        </a:p>
      </dsp:txBody>
      <dsp:txXfrm>
        <a:off x="1131325" y="2715306"/>
        <a:ext cx="3375000" cy="720000"/>
      </dsp:txXfrm>
    </dsp:sp>
    <dsp:sp modelId="{1ACA4066-DBC0-4DAD-9478-05D99AEF7FC6}">
      <dsp:nvSpPr>
        <dsp:cNvPr id="0" name=""/>
        <dsp:cNvSpPr/>
      </dsp:nvSpPr>
      <dsp:spPr>
        <a:xfrm>
          <a:off x="5755075" y="15306"/>
          <a:ext cx="2058750" cy="2058750"/>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CA4E41A-FC07-4D6A-A8B1-22DAE8BE2470}">
      <dsp:nvSpPr>
        <dsp:cNvPr id="0" name=""/>
        <dsp:cNvSpPr/>
      </dsp:nvSpPr>
      <dsp:spPr>
        <a:xfrm>
          <a:off x="6193825" y="454056"/>
          <a:ext cx="1181250" cy="118125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7EB7F31-D75E-4873-8408-953F872EBE52}">
      <dsp:nvSpPr>
        <dsp:cNvPr id="0" name=""/>
        <dsp:cNvSpPr/>
      </dsp:nvSpPr>
      <dsp:spPr>
        <a:xfrm>
          <a:off x="5096950" y="2715306"/>
          <a:ext cx="3375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289050">
            <a:lnSpc>
              <a:spcPct val="100000"/>
            </a:lnSpc>
            <a:spcBef>
              <a:spcPct val="0"/>
            </a:spcBef>
            <a:spcAft>
              <a:spcPct val="35000"/>
            </a:spcAft>
            <a:buNone/>
            <a:defRPr cap="all"/>
          </a:pPr>
          <a:r>
            <a:rPr lang="en-US" sz="2900" kern="1200"/>
            <a:t>Mode Building</a:t>
          </a:r>
        </a:p>
      </dsp:txBody>
      <dsp:txXfrm>
        <a:off x="5096950" y="2715306"/>
        <a:ext cx="3375000" cy="720000"/>
      </dsp:txXfrm>
    </dsp:sp>
  </dsp:spTree>
</dsp:drawing>
</file>

<file path=ppt/diagrams/layout1.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3657AA7F-BE72-4467-897E-7A302F46504F}" type="datetimeFigureOut">
              <a:rPr lang="en-US" smtClean="0"/>
              <a:t>9/23/2021</a:t>
            </a:fld>
            <a:endParaRPr lang="en-US"/>
          </a:p>
        </p:txBody>
      </p:sp>
      <p:sp>
        <p:nvSpPr>
          <p:cNvPr id="5" name="Footer Placeholder 4"/>
          <p:cNvSpPr>
            <a:spLocks noGrp="1"/>
          </p:cNvSpPr>
          <p:nvPr>
            <p:ph type="ftr" sz="quarter" idx="11"/>
          </p:nvPr>
        </p:nvSpPr>
        <p:spPr>
          <a:xfrm>
            <a:off x="2416500" y="329307"/>
            <a:ext cx="4973915" cy="309201"/>
          </a:xfrm>
        </p:spPr>
        <p:txBody>
          <a:bodyPr/>
          <a:lstStyle/>
          <a:p>
            <a:endParaRPr lang="en-US"/>
          </a:p>
        </p:txBody>
      </p:sp>
      <p:sp>
        <p:nvSpPr>
          <p:cNvPr id="6" name="Slide Number Placeholder 5"/>
          <p:cNvSpPr>
            <a:spLocks noGrp="1"/>
          </p:cNvSpPr>
          <p:nvPr>
            <p:ph type="sldNum" sz="quarter" idx="12"/>
          </p:nvPr>
        </p:nvSpPr>
        <p:spPr>
          <a:xfrm>
            <a:off x="1437664" y="798973"/>
            <a:ext cx="811019" cy="503578"/>
          </a:xfrm>
        </p:spPr>
        <p:txBody>
          <a:bodyPr/>
          <a:lstStyle/>
          <a:p>
            <a:fld id="{35747434-7036-48DB-A148-6B3D8EE75CDA}" type="slidenum">
              <a:rPr lang="en-US" smtClean="0"/>
              <a:t>‹#›</a:t>
            </a:fld>
            <a:endParaRPr lang="en-US"/>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8858838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657AA7F-BE72-4467-897E-7A302F46504F}" type="datetimeFigureOut">
              <a:rPr lang="en-US" smtClean="0"/>
              <a:t>9/23/2021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5747434-7036-48DB-A148-6B3D8EE75CDA}" type="slidenum">
              <a:rPr lang="en-US" smtClean="0"/>
              <a:t>‹#›</a:t>
            </a:fld>
            <a:endParaRPr lang="en-US"/>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6912400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657AA7F-BE72-4467-897E-7A302F46504F}" type="datetimeFigureOut">
              <a:rPr lang="en-US" smtClean="0"/>
              <a:t>9/23/2021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5747434-7036-48DB-A148-6B3D8EE75CDA}" type="slidenum">
              <a:rPr lang="en-US" smtClean="0"/>
              <a:t>‹#›</a:t>
            </a:fld>
            <a:endParaRPr lang="en-US"/>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5469852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657AA7F-BE72-4467-897E-7A302F46504F}" type="datetimeFigureOut">
              <a:rPr lang="en-US" smtClean="0"/>
              <a:t>9/23/2021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5747434-7036-48DB-A148-6B3D8EE75CDA}" type="slidenum">
              <a:rPr lang="en-US" smtClean="0"/>
              <a:t>‹#›</a:t>
            </a:fld>
            <a:endParaRPr lang="en-US"/>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7505347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657AA7F-BE72-4467-897E-7A302F46504F}" type="datetimeFigureOut">
              <a:rPr lang="en-US" smtClean="0"/>
              <a:t>9/23/2021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5747434-7036-48DB-A148-6B3D8EE75CDA}" type="slidenum">
              <a:rPr lang="en-US" smtClean="0"/>
              <a:t>‹#›</a:t>
            </a:fld>
            <a:endParaRPr lang="en-US"/>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5218055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3657AA7F-BE72-4467-897E-7A302F46504F}" type="datetimeFigureOut">
              <a:rPr lang="en-US" smtClean="0"/>
              <a:t>9/23/2021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5747434-7036-48DB-A148-6B3D8EE75CDA}" type="slidenum">
              <a:rPr lang="en-US" smtClean="0"/>
              <a:t>‹#›</a:t>
            </a:fld>
            <a:endParaRPr lang="en-US"/>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8857374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657AA7F-BE72-4467-897E-7A302F46504F}" type="datetimeFigureOut">
              <a:rPr lang="en-US" smtClean="0"/>
              <a:t>9/23/2021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5747434-7036-48DB-A148-6B3D8EE75CDA}" type="slidenum">
              <a:rPr lang="en-US" smtClean="0"/>
              <a:t>‹#›</a:t>
            </a:fld>
            <a:endParaRPr lang="en-US"/>
          </a:p>
        </p:txBody>
      </p:sp>
    </p:spTree>
    <p:extLst>
      <p:ext uri="{BB962C8B-B14F-4D97-AF65-F5344CB8AC3E}">
        <p14:creationId xmlns:p14="http://schemas.microsoft.com/office/powerpoint/2010/main" val="3512401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657AA7F-BE72-4467-897E-7A302F46504F}" type="datetimeFigureOut">
              <a:rPr lang="en-US" smtClean="0"/>
              <a:t>9/23/2021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5747434-7036-48DB-A148-6B3D8EE75CDA}" type="slidenum">
              <a:rPr lang="en-US" smtClean="0"/>
              <a:t>‹#›</a:t>
            </a:fld>
            <a:endParaRPr lang="en-US"/>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480564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3657AA7F-BE72-4467-897E-7A302F46504F}" type="datetimeFigureOut">
              <a:rPr lang="en-US" smtClean="0"/>
              <a:t>9/23/2021</a:t>
            </a:fld>
            <a:endParaRPr lang="en-US"/>
          </a:p>
        </p:txBody>
      </p:sp>
      <p:sp>
        <p:nvSpPr>
          <p:cNvPr id="6" name="Footer Placeholder 5"/>
          <p:cNvSpPr>
            <a:spLocks noGrp="1"/>
          </p:cNvSpPr>
          <p:nvPr>
            <p:ph type="ftr" sz="quarter" idx="11"/>
          </p:nvPr>
        </p:nvSpPr>
        <p:spPr>
          <a:xfrm>
            <a:off x="1447382" y="318640"/>
            <a:ext cx="5541004" cy="320931"/>
          </a:xfrm>
        </p:spPr>
        <p:txBody>
          <a:bodyPr/>
          <a:lstStyle/>
          <a:p>
            <a:endParaRPr lang="en-US"/>
          </a:p>
        </p:txBody>
      </p:sp>
      <p:sp>
        <p:nvSpPr>
          <p:cNvPr id="7" name="Slide Number Placeholder 6"/>
          <p:cNvSpPr>
            <a:spLocks noGrp="1"/>
          </p:cNvSpPr>
          <p:nvPr>
            <p:ph type="sldNum" sz="quarter" idx="12"/>
          </p:nvPr>
        </p:nvSpPr>
        <p:spPr/>
        <p:txBody>
          <a:bodyPr/>
          <a:lstStyle/>
          <a:p>
            <a:fld id="{35747434-7036-48DB-A148-6B3D8EE75CDA}" type="slidenum">
              <a:rPr lang="en-US" smtClean="0"/>
              <a:t>‹#›</a:t>
            </a:fld>
            <a:endParaRPr lang="en-US"/>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2140789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657AA7F-BE72-4467-897E-7A302F46504F}" type="datetimeFigureOut">
              <a:rPr lang="en-US" smtClean="0"/>
              <a:t>9/23/2021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5747434-7036-48DB-A148-6B3D8EE75CDA}" type="slidenum">
              <a:rPr lang="en-US" smtClean="0"/>
              <a:t>‹#›</a:t>
            </a:fld>
            <a:endParaRPr lang="en-US"/>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4795064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657AA7F-BE72-4467-897E-7A302F46504F}" type="datetimeFigureOut">
              <a:rPr lang="en-US" smtClean="0"/>
              <a:t>9/23/2021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5747434-7036-48DB-A148-6B3D8EE75CDA}" type="slidenum">
              <a:rPr lang="en-US" smtClean="0"/>
              <a:t>‹#›</a:t>
            </a:fld>
            <a:endParaRPr lang="en-US"/>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3824393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7" name="Picture 6"/>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3657AA7F-BE72-4467-897E-7A302F46504F}" type="datetimeFigureOut">
              <a:rPr lang="en-US" smtClean="0"/>
              <a:pPr/>
              <a:t>9/23/2021</a:t>
            </a:fld>
            <a:endParaRPr lang="en-US" dirty="0"/>
          </a:p>
        </p:txBody>
      </p:sp>
      <p:sp>
        <p:nvSpPr>
          <p:cNvPr id="5" name="Footer Placeholder 4"/>
          <p:cNvSpPr>
            <a:spLocks noGrp="1"/>
          </p:cNvSpPr>
          <p:nvPr>
            <p:ph type="ftr" sz="quarter" idx="3"/>
          </p:nvPr>
        </p:nvSpPr>
        <p:spPr>
          <a:xfrm>
            <a:off x="1451579"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a:solidFill>
                <a:schemeClr val="tx1"/>
              </a:solidFill>
            </a:endParaRPr>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35747434-7036-48DB-A148-6B3D8EE75CDA}" type="slidenum">
              <a:rPr lang="en-US" smtClean="0"/>
              <a:pPr/>
              <a:t>‹#›</a:t>
            </a:fld>
            <a:endParaRPr lang="en-US" dirty="0"/>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60898521"/>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Lst>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50000" t="50000" r="50000" b="50000"/>
          </a:path>
        </a:gradFill>
        <a:effectLst/>
      </p:bgPr>
    </p:bg>
    <p:spTree>
      <p:nvGrpSpPr>
        <p:cNvPr id="1" name=""/>
        <p:cNvGrpSpPr/>
        <p:nvPr/>
      </p:nvGrpSpPr>
      <p:grpSpPr>
        <a:xfrm>
          <a:off x="0" y="0"/>
          <a:ext cx="0" cy="0"/>
          <a:chOff x="0" y="0"/>
          <a:chExt cx="0" cy="0"/>
        </a:xfrm>
      </p:grpSpPr>
      <p:sp>
        <p:nvSpPr>
          <p:cNvPr id="8" name="Rectangle 10">
            <a:extLst>
              <a:ext uri="{FF2B5EF4-FFF2-40B4-BE49-F238E27FC236}">
                <a16:creationId xmlns:a16="http://schemas.microsoft.com/office/drawing/2014/main" id="{23522FE7-5A29-4EF6-B1EF-2CA55748A7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10" name="Picture 12">
            <a:extLst>
              <a:ext uri="{FF2B5EF4-FFF2-40B4-BE49-F238E27FC236}">
                <a16:creationId xmlns:a16="http://schemas.microsoft.com/office/drawing/2014/main" id="{C2192E09-EBC7-416C-B887-DFF915D7F43D}"/>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cxnSp>
        <p:nvCxnSpPr>
          <p:cNvPr id="12" name="Straight Connector 14">
            <a:extLst>
              <a:ext uri="{FF2B5EF4-FFF2-40B4-BE49-F238E27FC236}">
                <a16:creationId xmlns:a16="http://schemas.microsoft.com/office/drawing/2014/main" id="{2924498D-E084-44BE-A196-CFCE3556435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6">
            <a:extLst>
              <a:ext uri="{FF2B5EF4-FFF2-40B4-BE49-F238E27FC236}">
                <a16:creationId xmlns:a16="http://schemas.microsoft.com/office/drawing/2014/main" id="{3BBC7667-C352-4842-9AFD-E5C16AD002F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 useBgFill="1">
        <p:nvSpPr>
          <p:cNvPr id="16" name="Rectangle 18">
            <a:extLst>
              <a:ext uri="{FF2B5EF4-FFF2-40B4-BE49-F238E27FC236}">
                <a16:creationId xmlns:a16="http://schemas.microsoft.com/office/drawing/2014/main" id="{1C69834E-5EEE-4D61-833E-04928896454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20">
            <a:extLst>
              <a:ext uri="{FF2B5EF4-FFF2-40B4-BE49-F238E27FC236}">
                <a16:creationId xmlns:a16="http://schemas.microsoft.com/office/drawing/2014/main" id="{58E5D9BA-46E7-4BFA-9C74-75495BF6F5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20" name="Rectangle 22">
            <a:extLst>
              <a:ext uri="{FF2B5EF4-FFF2-40B4-BE49-F238E27FC236}">
                <a16:creationId xmlns:a16="http://schemas.microsoft.com/office/drawing/2014/main" id="{5B033D76-5800-44B6-AFE9-EE21069351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331" y="638508"/>
            <a:ext cx="10905339" cy="4843439"/>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2" name="Rectangle 24">
            <a:extLst>
              <a:ext uri="{FF2B5EF4-FFF2-40B4-BE49-F238E27FC236}">
                <a16:creationId xmlns:a16="http://schemas.microsoft.com/office/drawing/2014/main" id="{522D6F85-FFBA-4F81-AEE5-AAA17CB7AA9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0204" y="865667"/>
            <a:ext cx="10451592" cy="4389120"/>
          </a:xfrm>
          <a:prstGeom prst="rect">
            <a:avLst/>
          </a:prstGeom>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1003">
            <a:schemeClr val="lt2"/>
          </a:fillRef>
          <a:effectRef idx="2">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13B31514-E6DF-4357-9EEA-EFB7983080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34796" y="1030259"/>
            <a:ext cx="10122408" cy="4059936"/>
          </a:xfrm>
          <a:prstGeom prst="rect">
            <a:avLst/>
          </a:prstGeom>
          <a:ln>
            <a:solidFill>
              <a:srgbClr val="949494"/>
            </a:solidFill>
          </a:ln>
        </p:spPr>
        <p:style>
          <a:lnRef idx="2">
            <a:schemeClr val="accent1">
              <a:shade val="50000"/>
            </a:schemeClr>
          </a:lnRef>
          <a:fillRef idx="1003">
            <a:schemeClr val="lt1"/>
          </a:fillRef>
          <a:effectRef idx="0">
            <a:schemeClr val="accent1"/>
          </a:effectRef>
          <a:fontRef idx="minor">
            <a:schemeClr val="lt1"/>
          </a:fontRef>
        </p:style>
        <p:txBody>
          <a:bodyPr rtlCol="0" anchor="ctr"/>
          <a:lstStyle/>
          <a:p>
            <a:pPr algn="ctr"/>
            <a:endParaRPr lang="en-US"/>
          </a:p>
        </p:txBody>
      </p:sp>
      <p:sp>
        <p:nvSpPr>
          <p:cNvPr id="5" name="Title 4">
            <a:extLst>
              <a:ext uri="{FF2B5EF4-FFF2-40B4-BE49-F238E27FC236}">
                <a16:creationId xmlns:a16="http://schemas.microsoft.com/office/drawing/2014/main" id="{AA3720BD-103A-49A5-8358-802D78788EFD}"/>
              </a:ext>
            </a:extLst>
          </p:cNvPr>
          <p:cNvSpPr>
            <a:spLocks noGrp="1"/>
          </p:cNvSpPr>
          <p:nvPr>
            <p:ph type="title"/>
          </p:nvPr>
        </p:nvSpPr>
        <p:spPr>
          <a:xfrm>
            <a:off x="1557071" y="1584552"/>
            <a:ext cx="9099255" cy="3355195"/>
          </a:xfrm>
        </p:spPr>
        <p:txBody>
          <a:bodyPr vert="horz" lIns="91440" tIns="45720" rIns="91440" bIns="0" rtlCol="0" anchor="ctr">
            <a:normAutofit/>
          </a:bodyPr>
          <a:lstStyle/>
          <a:p>
            <a:pPr algn="ctr"/>
            <a:r>
              <a:rPr lang="en-US" sz="7200" dirty="0">
                <a:solidFill>
                  <a:srgbClr val="454545"/>
                </a:solidFill>
              </a:rPr>
              <a:t>IMAGE CLASSIFICATION</a:t>
            </a:r>
            <a:br>
              <a:rPr lang="en-US" sz="7200" dirty="0">
                <a:solidFill>
                  <a:srgbClr val="454545"/>
                </a:solidFill>
              </a:rPr>
            </a:br>
            <a:br>
              <a:rPr lang="en-US" sz="7200" dirty="0">
                <a:solidFill>
                  <a:srgbClr val="454545"/>
                </a:solidFill>
              </a:rPr>
            </a:br>
            <a:r>
              <a:rPr lang="en-US" sz="2000" dirty="0">
                <a:solidFill>
                  <a:srgbClr val="454545"/>
                </a:solidFill>
              </a:rPr>
              <a:t>BY- ANURAG KUMAR</a:t>
            </a:r>
            <a:endParaRPr lang="en-US" sz="7200" dirty="0">
              <a:solidFill>
                <a:srgbClr val="454545"/>
              </a:solidFill>
            </a:endParaRPr>
          </a:p>
        </p:txBody>
      </p:sp>
      <p:pic>
        <p:nvPicPr>
          <p:cNvPr id="29" name="Picture 28">
            <a:extLst>
              <a:ext uri="{FF2B5EF4-FFF2-40B4-BE49-F238E27FC236}">
                <a16:creationId xmlns:a16="http://schemas.microsoft.com/office/drawing/2014/main" id="{4C401D57-600A-4C91-AC9A-14CA1ED6F7D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cxnSp>
        <p:nvCxnSpPr>
          <p:cNvPr id="31" name="Straight Connector 30">
            <a:extLst>
              <a:ext uri="{FF2B5EF4-FFF2-40B4-BE49-F238E27FC236}">
                <a16:creationId xmlns:a16="http://schemas.microsoft.com/office/drawing/2014/main" id="{412BDC66-00FA-4A3F-9BC7-BE05FF7705F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53812057"/>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9BF187-AD1F-4505-A7E9-0B9405F512D6}"/>
              </a:ext>
            </a:extLst>
          </p:cNvPr>
          <p:cNvSpPr>
            <a:spLocks noGrp="1"/>
          </p:cNvSpPr>
          <p:nvPr>
            <p:ph type="title"/>
          </p:nvPr>
        </p:nvSpPr>
        <p:spPr>
          <a:xfrm>
            <a:off x="1451579" y="804519"/>
            <a:ext cx="9603275" cy="1049235"/>
          </a:xfrm>
        </p:spPr>
        <p:txBody>
          <a:bodyPr>
            <a:normAutofit/>
          </a:bodyPr>
          <a:lstStyle/>
          <a:p>
            <a:br>
              <a:rPr lang="en-IN" dirty="0"/>
            </a:br>
            <a:r>
              <a:rPr lang="en-IN" dirty="0"/>
              <a:t>                             IDEA</a:t>
            </a:r>
          </a:p>
        </p:txBody>
      </p:sp>
      <p:sp>
        <p:nvSpPr>
          <p:cNvPr id="21" name="Content Placeholder 2">
            <a:extLst>
              <a:ext uri="{FF2B5EF4-FFF2-40B4-BE49-F238E27FC236}">
                <a16:creationId xmlns:a16="http://schemas.microsoft.com/office/drawing/2014/main" id="{F7B5B5A3-D41D-4E19-B125-6F8FD1BA842C}"/>
              </a:ext>
            </a:extLst>
          </p:cNvPr>
          <p:cNvSpPr>
            <a:spLocks noGrp="1"/>
          </p:cNvSpPr>
          <p:nvPr>
            <p:ph idx="1"/>
          </p:nvPr>
        </p:nvSpPr>
        <p:spPr>
          <a:xfrm>
            <a:off x="1451579" y="2015734"/>
            <a:ext cx="6195784" cy="3450613"/>
          </a:xfrm>
        </p:spPr>
        <p:txBody>
          <a:bodyPr>
            <a:normAutofit/>
          </a:bodyPr>
          <a:lstStyle/>
          <a:p>
            <a:pPr>
              <a:lnSpc>
                <a:spcPct val="110000"/>
              </a:lnSpc>
            </a:pPr>
            <a:r>
              <a:rPr lang="en-US" sz="1700" dirty="0">
                <a:effectLst/>
                <a:latin typeface="Calibri" panose="020F0502020204030204" pitchFamily="34" charset="0"/>
                <a:ea typeface="Calibri" panose="020F0502020204030204" pitchFamily="34" charset="0"/>
                <a:cs typeface="Times New Roman" panose="02020603050405020304" pitchFamily="18" charset="0"/>
              </a:rPr>
              <a:t>Images are one of the major sources of data in the field of data science and AI. This field is making appropriate use of information that can be gathered through images by examining its features and details. We are trying to give you an exposure of how an end-to-end project is developed in this field</a:t>
            </a:r>
          </a:p>
          <a:p>
            <a:pPr>
              <a:lnSpc>
                <a:spcPct val="110000"/>
              </a:lnSpc>
            </a:pPr>
            <a:endParaRPr lang="en-US" sz="1700" dirty="0">
              <a:latin typeface="Calibri" panose="020F0502020204030204" pitchFamily="34" charset="0"/>
              <a:ea typeface="Calibri" panose="020F0502020204030204" pitchFamily="34" charset="0"/>
              <a:cs typeface="Times New Roman" panose="02020603050405020304" pitchFamily="18" charset="0"/>
            </a:endParaRPr>
          </a:p>
          <a:p>
            <a:pPr>
              <a:lnSpc>
                <a:spcPct val="110000"/>
              </a:lnSpc>
            </a:pPr>
            <a:r>
              <a:rPr lang="en-US" sz="1700" dirty="0">
                <a:latin typeface="Calibri" panose="020F0502020204030204" pitchFamily="34" charset="0"/>
                <a:ea typeface="Calibri" panose="020F0502020204030204" pitchFamily="34" charset="0"/>
                <a:cs typeface="Times New Roman" panose="02020603050405020304" pitchFamily="18" charset="0"/>
              </a:rPr>
              <a:t>I</a:t>
            </a:r>
            <a:r>
              <a:rPr lang="en-US" sz="1700" dirty="0">
                <a:effectLst/>
                <a:latin typeface="Calibri" panose="020F0502020204030204" pitchFamily="34" charset="0"/>
                <a:ea typeface="Calibri" panose="020F0502020204030204" pitchFamily="34" charset="0"/>
                <a:cs typeface="Times New Roman" panose="02020603050405020304" pitchFamily="18" charset="0"/>
              </a:rPr>
              <a:t>dea behind this project is to build a deep learning-based Image Classification model on images that will be scraped from e-commerce portal. This is done to make the model more and more robust.</a:t>
            </a:r>
            <a:endParaRPr lang="en-IN" sz="1700" dirty="0"/>
          </a:p>
        </p:txBody>
      </p:sp>
      <p:pic>
        <p:nvPicPr>
          <p:cNvPr id="7" name="Graphic 6" descr="Database">
            <a:extLst>
              <a:ext uri="{FF2B5EF4-FFF2-40B4-BE49-F238E27FC236}">
                <a16:creationId xmlns:a16="http://schemas.microsoft.com/office/drawing/2014/main" id="{4E0B70F6-1847-4346-AC00-DF3F5F3633E0}"/>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128756" y="2277991"/>
            <a:ext cx="2926098" cy="2926098"/>
          </a:xfrm>
          <a:prstGeom prst="rect">
            <a:avLst/>
          </a:prstGeom>
        </p:spPr>
      </p:pic>
    </p:spTree>
    <p:extLst>
      <p:ext uri="{BB962C8B-B14F-4D97-AF65-F5344CB8AC3E}">
        <p14:creationId xmlns:p14="http://schemas.microsoft.com/office/powerpoint/2010/main" val="28199749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AD3899-0540-4EE5-8330-9CDE1D9C06A8}"/>
              </a:ext>
            </a:extLst>
          </p:cNvPr>
          <p:cNvSpPr>
            <a:spLocks noGrp="1"/>
          </p:cNvSpPr>
          <p:nvPr>
            <p:ph type="title"/>
          </p:nvPr>
        </p:nvSpPr>
        <p:spPr/>
        <p:txBody>
          <a:bodyPr/>
          <a:lstStyle/>
          <a:p>
            <a:r>
              <a:rPr lang="en-IN" dirty="0"/>
              <a:t>                             Task Division </a:t>
            </a:r>
          </a:p>
        </p:txBody>
      </p:sp>
      <p:graphicFrame>
        <p:nvGraphicFramePr>
          <p:cNvPr id="7" name="Content Placeholder 2">
            <a:extLst>
              <a:ext uri="{FF2B5EF4-FFF2-40B4-BE49-F238E27FC236}">
                <a16:creationId xmlns:a16="http://schemas.microsoft.com/office/drawing/2014/main" id="{7A59FCD9-F952-4DA7-B5BF-4E1FE4E4F147}"/>
              </a:ext>
            </a:extLst>
          </p:cNvPr>
          <p:cNvGraphicFramePr>
            <a:graphicFrameLocks noGrp="1"/>
          </p:cNvGraphicFramePr>
          <p:nvPr>
            <p:ph idx="1"/>
          </p:nvPr>
        </p:nvGraphicFramePr>
        <p:xfrm>
          <a:off x="1451579" y="2015732"/>
          <a:ext cx="9603275" cy="345061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0693087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50000" t="50000" r="50000" b="50000"/>
          </a:path>
        </a:gradFill>
        <a:effectLst/>
      </p:bgPr>
    </p:bg>
    <p:spTree>
      <p:nvGrpSpPr>
        <p:cNvPr id="1" name=""/>
        <p:cNvGrpSpPr/>
        <p:nvPr/>
      </p:nvGrpSpPr>
      <p:grpSpPr>
        <a:xfrm>
          <a:off x="0" y="0"/>
          <a:ext cx="0" cy="0"/>
          <a:chOff x="0" y="0"/>
          <a:chExt cx="0" cy="0"/>
        </a:xfrm>
      </p:grpSpPr>
      <p:sp useBgFill="1">
        <p:nvSpPr>
          <p:cNvPr id="29" name="Rectangle 7">
            <a:extLst>
              <a:ext uri="{FF2B5EF4-FFF2-40B4-BE49-F238E27FC236}">
                <a16:creationId xmlns:a16="http://schemas.microsoft.com/office/drawing/2014/main" id="{08E7A6F0-5CD3-481E-B0F2-E7F99FE675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9">
            <a:extLst>
              <a:ext uri="{FF2B5EF4-FFF2-40B4-BE49-F238E27FC236}">
                <a16:creationId xmlns:a16="http://schemas.microsoft.com/office/drawing/2014/main" id="{511290DF-4975-4FCD-8B8D-BBC86B8366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2" name="Title 1">
            <a:extLst>
              <a:ext uri="{FF2B5EF4-FFF2-40B4-BE49-F238E27FC236}">
                <a16:creationId xmlns:a16="http://schemas.microsoft.com/office/drawing/2014/main" id="{D37FCA08-1FCC-4C14-99A1-0BE131B05D54}"/>
              </a:ext>
            </a:extLst>
          </p:cNvPr>
          <p:cNvSpPr>
            <a:spLocks noGrp="1"/>
          </p:cNvSpPr>
          <p:nvPr>
            <p:ph type="title"/>
          </p:nvPr>
        </p:nvSpPr>
        <p:spPr>
          <a:xfrm>
            <a:off x="860612" y="1138228"/>
            <a:ext cx="3793685" cy="3858767"/>
          </a:xfrm>
        </p:spPr>
        <p:txBody>
          <a:bodyPr anchor="ctr">
            <a:normAutofit/>
          </a:bodyPr>
          <a:lstStyle/>
          <a:p>
            <a:r>
              <a:rPr lang="en-US" sz="3600" b="1">
                <a:effectLst/>
                <a:latin typeface="Calibri" panose="020F0502020204030204" pitchFamily="34" charset="0"/>
                <a:ea typeface="Calibri" panose="020F0502020204030204" pitchFamily="34" charset="0"/>
                <a:cs typeface="Times New Roman" panose="02020603050405020304" pitchFamily="18" charset="0"/>
              </a:rPr>
              <a:t>Data Collection Phase</a:t>
            </a:r>
            <a:endParaRPr lang="en-IN" sz="3600"/>
          </a:p>
        </p:txBody>
      </p:sp>
      <p:grpSp>
        <p:nvGrpSpPr>
          <p:cNvPr id="12" name="Group 11">
            <a:extLst>
              <a:ext uri="{FF2B5EF4-FFF2-40B4-BE49-F238E27FC236}">
                <a16:creationId xmlns:a16="http://schemas.microsoft.com/office/drawing/2014/main" id="{357CA18A-A333-4DCB-842B-76827D2ECB2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100021" y="638300"/>
            <a:ext cx="6409605" cy="4858625"/>
            <a:chOff x="7807230" y="2012810"/>
            <a:chExt cx="3251252" cy="3459865"/>
          </a:xfrm>
        </p:grpSpPr>
        <p:sp>
          <p:nvSpPr>
            <p:cNvPr id="13" name="Rectangle 12">
              <a:extLst>
                <a:ext uri="{FF2B5EF4-FFF2-40B4-BE49-F238E27FC236}">
                  <a16:creationId xmlns:a16="http://schemas.microsoft.com/office/drawing/2014/main" id="{6E785FC3-CE7B-46F8-8C7A-EBBF001EDB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807230" y="2012810"/>
              <a:ext cx="3251252" cy="3459865"/>
            </a:xfrm>
            <a:prstGeom prst="rect">
              <a:avLst/>
            </a:prstGeom>
            <a:gradFill>
              <a:gsLst>
                <a:gs pos="0">
                  <a:srgbClr val="000001"/>
                </a:gs>
                <a:gs pos="100000">
                  <a:srgbClr val="191919"/>
                </a:gs>
              </a:gsLst>
            </a:gradFill>
            <a:ln w="76200" cmpd="sng">
              <a:noFill/>
              <a:miter lim="800000"/>
            </a:ln>
            <a:effectLst>
              <a:outerShdw blurRad="127000" dist="1905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75069D9A-30C7-4159-880C-DD2BDC51009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807231" y="2026142"/>
              <a:ext cx="3251250" cy="3440203"/>
            </a:xfrm>
            <a:prstGeom prst="rect">
              <a:avLst/>
            </a:prstGeom>
            <a:gradFill>
              <a:gsLst>
                <a:gs pos="0">
                  <a:srgbClr val="DADADA"/>
                </a:gs>
                <a:gs pos="100000">
                  <a:srgbClr val="FFFFFE"/>
                </a:gs>
              </a:gsLst>
              <a:lin ang="16200000" scaled="0"/>
            </a:gradFill>
            <a:ln w="762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w="38100" h="38100" prst="relaxedInset"/>
            </a:sp3d>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16" name="Rectangle 15">
            <a:extLst>
              <a:ext uri="{FF2B5EF4-FFF2-40B4-BE49-F238E27FC236}">
                <a16:creationId xmlns:a16="http://schemas.microsoft.com/office/drawing/2014/main" id="{D9FE1511-6E1B-4F0E-8FF0-958527181C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19891" y="973636"/>
            <a:ext cx="5769864" cy="4187952"/>
          </a:xfrm>
          <a:prstGeom prst="rect">
            <a:avLst/>
          </a:prstGeom>
          <a:solidFill>
            <a:srgbClr val="FFFFFF"/>
          </a:solidFill>
          <a:ln w="6350">
            <a:solidFill>
              <a:srgbClr val="DFDBD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Content Placeholder 2">
            <a:extLst>
              <a:ext uri="{FF2B5EF4-FFF2-40B4-BE49-F238E27FC236}">
                <a16:creationId xmlns:a16="http://schemas.microsoft.com/office/drawing/2014/main" id="{00823EF3-8700-4DFD-ABEA-8777CAD8F08B}"/>
              </a:ext>
            </a:extLst>
          </p:cNvPr>
          <p:cNvSpPr>
            <a:spLocks noGrp="1"/>
          </p:cNvSpPr>
          <p:nvPr>
            <p:ph idx="1"/>
          </p:nvPr>
        </p:nvSpPr>
        <p:spPr>
          <a:xfrm>
            <a:off x="5584483" y="1138228"/>
            <a:ext cx="5440680" cy="3858768"/>
          </a:xfrm>
        </p:spPr>
        <p:txBody>
          <a:bodyPr anchor="ctr">
            <a:normAutofit/>
          </a:bodyPr>
          <a:lstStyle/>
          <a:p>
            <a:pPr>
              <a:spcAft>
                <a:spcPts val="800"/>
              </a:spcAft>
            </a:pPr>
            <a:r>
              <a:rPr lang="en-US">
                <a:solidFill>
                  <a:srgbClr val="000000"/>
                </a:solidFill>
                <a:latin typeface="Calibri" panose="020F0502020204030204" pitchFamily="34" charset="0"/>
                <a:ea typeface="Calibri" panose="020F0502020204030204" pitchFamily="34" charset="0"/>
                <a:cs typeface="Times New Roman" panose="02020603050405020304" pitchFamily="18" charset="0"/>
              </a:rPr>
              <a:t>S</a:t>
            </a:r>
            <a:r>
              <a:rPr lang="en-US">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craped images from e-commerce portal, Amazon.com. The clothing categories used for scraping will be:</a:t>
            </a:r>
            <a:endParaRPr lang="en-IN">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buFont typeface="Calibri" panose="020F0502020204030204" pitchFamily="34" charset="0"/>
              <a:buChar char="-"/>
            </a:pPr>
            <a:r>
              <a:rPr lang="en-US">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Sarees (women)</a:t>
            </a:r>
            <a:endParaRPr lang="en-IN">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buFont typeface="Calibri" panose="020F0502020204030204" pitchFamily="34" charset="0"/>
              <a:buChar char="-"/>
            </a:pPr>
            <a:r>
              <a:rPr lang="en-US">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Trousers (</a:t>
            </a:r>
            <a:r>
              <a:rPr lang="en-IN">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men)</a:t>
            </a:r>
          </a:p>
          <a:p>
            <a:pPr marL="342900" lvl="0" indent="-342900">
              <a:spcAft>
                <a:spcPts val="800"/>
              </a:spcAft>
              <a:buFont typeface="Calibri" panose="020F0502020204030204" pitchFamily="34" charset="0"/>
              <a:buChar char="-"/>
            </a:pPr>
            <a:r>
              <a:rPr lang="en-IN">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Jeans (</a:t>
            </a:r>
            <a:r>
              <a:rPr lang="en-US">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men)</a:t>
            </a:r>
            <a:endParaRPr lang="en-IN">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p>
            <a:endParaRPr lang="en-IN">
              <a:solidFill>
                <a:srgbClr val="000000"/>
              </a:solidFill>
            </a:endParaRPr>
          </a:p>
        </p:txBody>
      </p:sp>
      <p:pic>
        <p:nvPicPr>
          <p:cNvPr id="18" name="Picture 17">
            <a:extLst>
              <a:ext uri="{FF2B5EF4-FFF2-40B4-BE49-F238E27FC236}">
                <a16:creationId xmlns:a16="http://schemas.microsoft.com/office/drawing/2014/main" id="{025CEF6D-5E98-4B5C-A10F-7459C1EEF10E}"/>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cxnSp>
        <p:nvCxnSpPr>
          <p:cNvPr id="20" name="Straight Connector 19">
            <a:extLst>
              <a:ext uri="{FF2B5EF4-FFF2-40B4-BE49-F238E27FC236}">
                <a16:creationId xmlns:a16="http://schemas.microsoft.com/office/drawing/2014/main" id="{05C73161-1E4E-4E6A-91B2-E885CF8FFBA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945388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C83FEB-C78A-45C6-966D-55DDCFB18E9D}"/>
              </a:ext>
            </a:extLst>
          </p:cNvPr>
          <p:cNvSpPr>
            <a:spLocks noGrp="1"/>
          </p:cNvSpPr>
          <p:nvPr>
            <p:ph type="title"/>
          </p:nvPr>
        </p:nvSpPr>
        <p:spPr/>
        <p:txBody>
          <a:bodyPr/>
          <a:lstStyle/>
          <a:p>
            <a:r>
              <a:rPr lang="en-US" sz="3200" b="1" dirty="0">
                <a:effectLst/>
                <a:latin typeface="Calibri" panose="020F0502020204030204" pitchFamily="34" charset="0"/>
                <a:ea typeface="Calibri" panose="020F0502020204030204" pitchFamily="34" charset="0"/>
                <a:cs typeface="Times New Roman" panose="02020603050405020304" pitchFamily="18" charset="0"/>
              </a:rPr>
              <a:t>                  </a:t>
            </a:r>
            <a:br>
              <a:rPr lang="en-US" sz="3200" b="1" dirty="0">
                <a:effectLst/>
                <a:latin typeface="Calibri" panose="020F0502020204030204" pitchFamily="34" charset="0"/>
                <a:ea typeface="Calibri" panose="020F0502020204030204" pitchFamily="34" charset="0"/>
                <a:cs typeface="Times New Roman" panose="02020603050405020304" pitchFamily="18" charset="0"/>
              </a:rPr>
            </a:br>
            <a:r>
              <a:rPr lang="en-US" sz="3200" b="1" dirty="0">
                <a:effectLst/>
                <a:latin typeface="Calibri" panose="020F0502020204030204" pitchFamily="34" charset="0"/>
                <a:ea typeface="Calibri" panose="020F0502020204030204" pitchFamily="34" charset="0"/>
                <a:cs typeface="Times New Roman" panose="02020603050405020304" pitchFamily="18" charset="0"/>
              </a:rPr>
              <a:t>                          Model Building Phase</a:t>
            </a:r>
            <a:endParaRPr lang="en-IN" dirty="0"/>
          </a:p>
        </p:txBody>
      </p:sp>
      <p:sp>
        <p:nvSpPr>
          <p:cNvPr id="3" name="Content Placeholder 2">
            <a:extLst>
              <a:ext uri="{FF2B5EF4-FFF2-40B4-BE49-F238E27FC236}">
                <a16:creationId xmlns:a16="http://schemas.microsoft.com/office/drawing/2014/main" id="{B6E5E77A-788B-4CE8-A617-5C28AE4C9AD8}"/>
              </a:ext>
            </a:extLst>
          </p:cNvPr>
          <p:cNvSpPr>
            <a:spLocks noGrp="1"/>
          </p:cNvSpPr>
          <p:nvPr>
            <p:ph idx="1"/>
          </p:nvPr>
        </p:nvSpPr>
        <p:spPr/>
        <p:txBody>
          <a:bodyPr/>
          <a:lstStyle/>
          <a:p>
            <a:r>
              <a:rPr lang="en-US" sz="1800" dirty="0">
                <a:effectLst/>
                <a:latin typeface="Calibri" panose="020F0502020204030204" pitchFamily="34" charset="0"/>
                <a:ea typeface="Calibri" panose="020F0502020204030204" pitchFamily="34" charset="0"/>
                <a:cs typeface="Times New Roman" panose="02020603050405020304" pitchFamily="18" charset="0"/>
              </a:rPr>
              <a:t>After the data collection and preparation is done, I build an image classification model that will classify between these 3 categories mentioned above. </a:t>
            </a:r>
          </a:p>
          <a:p>
            <a:r>
              <a:rPr lang="en-US" sz="1800" dirty="0">
                <a:latin typeface="Calibri" panose="020F0502020204030204" pitchFamily="34" charset="0"/>
                <a:ea typeface="Calibri" panose="020F0502020204030204" pitchFamily="34" charset="0"/>
                <a:cs typeface="Times New Roman" panose="02020603050405020304" pitchFamily="18" charset="0"/>
              </a:rPr>
              <a:t>I</a:t>
            </a:r>
            <a:r>
              <a:rPr lang="en-US" sz="1800" dirty="0">
                <a:effectLst/>
                <a:latin typeface="Calibri" panose="020F0502020204030204" pitchFamily="34" charset="0"/>
                <a:ea typeface="Calibri" panose="020F0502020204030204" pitchFamily="34" charset="0"/>
                <a:cs typeface="Times New Roman" panose="02020603050405020304" pitchFamily="18" charset="0"/>
              </a:rPr>
              <a:t> played around optimizers and learning rates for improving your model’s performance using-</a:t>
            </a:r>
          </a:p>
          <a:p>
            <a:pPr marL="400050" indent="-400050">
              <a:buFont typeface="+mj-lt"/>
              <a:buAutoNum type="romanUcPeriod"/>
            </a:pPr>
            <a:r>
              <a:rPr lang="en-US" sz="1800" b="0" dirty="0">
                <a:solidFill>
                  <a:srgbClr val="000000"/>
                </a:solidFill>
                <a:effectLst/>
                <a:latin typeface="Calibri" panose="020F0502020204030204" pitchFamily="34" charset="0"/>
                <a:cs typeface="Calibri" panose="020F0502020204030204" pitchFamily="34" charset="0"/>
              </a:rPr>
              <a:t>BATCH_SIZE = </a:t>
            </a:r>
            <a:r>
              <a:rPr lang="en-US" sz="1800" b="0" dirty="0">
                <a:solidFill>
                  <a:srgbClr val="09885A"/>
                </a:solidFill>
                <a:effectLst/>
                <a:latin typeface="Calibri" panose="020F0502020204030204" pitchFamily="34" charset="0"/>
                <a:cs typeface="Calibri" panose="020F0502020204030204" pitchFamily="34" charset="0"/>
              </a:rPr>
              <a:t>32</a:t>
            </a:r>
            <a:endParaRPr lang="en-US" sz="1800" b="0" dirty="0">
              <a:solidFill>
                <a:srgbClr val="000000"/>
              </a:solidFill>
              <a:effectLst/>
              <a:latin typeface="Calibri" panose="020F0502020204030204" pitchFamily="34" charset="0"/>
              <a:cs typeface="Calibri" panose="020F0502020204030204" pitchFamily="34" charset="0"/>
            </a:endParaRPr>
          </a:p>
          <a:p>
            <a:pPr marL="400050" indent="-400050">
              <a:buFont typeface="+mj-lt"/>
              <a:buAutoNum type="romanUcPeriod"/>
            </a:pPr>
            <a:r>
              <a:rPr lang="en-US" sz="1800" b="0" dirty="0">
                <a:solidFill>
                  <a:srgbClr val="000000"/>
                </a:solidFill>
                <a:effectLst/>
                <a:latin typeface="Calibri" panose="020F0502020204030204" pitchFamily="34" charset="0"/>
                <a:cs typeface="Calibri" panose="020F0502020204030204" pitchFamily="34" charset="0"/>
              </a:rPr>
              <a:t>IMAGE_SIZE = </a:t>
            </a:r>
            <a:r>
              <a:rPr lang="en-US" sz="1800" b="0" dirty="0">
                <a:solidFill>
                  <a:srgbClr val="09885A"/>
                </a:solidFill>
                <a:effectLst/>
                <a:latin typeface="Calibri" panose="020F0502020204030204" pitchFamily="34" charset="0"/>
                <a:cs typeface="Calibri" panose="020F0502020204030204" pitchFamily="34" charset="0"/>
              </a:rPr>
              <a:t>256</a:t>
            </a:r>
            <a:endParaRPr lang="en-US" sz="1800" b="0" dirty="0">
              <a:solidFill>
                <a:srgbClr val="000000"/>
              </a:solidFill>
              <a:effectLst/>
              <a:latin typeface="Calibri" panose="020F0502020204030204" pitchFamily="34" charset="0"/>
              <a:cs typeface="Calibri" panose="020F0502020204030204" pitchFamily="34" charset="0"/>
            </a:endParaRPr>
          </a:p>
          <a:p>
            <a:pPr marL="400050" indent="-400050">
              <a:buFont typeface="+mj-lt"/>
              <a:buAutoNum type="romanUcPeriod"/>
            </a:pPr>
            <a:r>
              <a:rPr lang="en-US" sz="1800" b="0" dirty="0">
                <a:solidFill>
                  <a:srgbClr val="000000"/>
                </a:solidFill>
                <a:effectLst/>
                <a:latin typeface="Calibri" panose="020F0502020204030204" pitchFamily="34" charset="0"/>
                <a:cs typeface="Calibri" panose="020F0502020204030204" pitchFamily="34" charset="0"/>
              </a:rPr>
              <a:t>CHANNELS=</a:t>
            </a:r>
            <a:r>
              <a:rPr lang="en-US" sz="1800" b="0" dirty="0">
                <a:solidFill>
                  <a:srgbClr val="09885A"/>
                </a:solidFill>
                <a:effectLst/>
                <a:latin typeface="Calibri" panose="020F0502020204030204" pitchFamily="34" charset="0"/>
                <a:cs typeface="Calibri" panose="020F0502020204030204" pitchFamily="34" charset="0"/>
              </a:rPr>
              <a:t>3</a:t>
            </a:r>
            <a:endParaRPr lang="en-US" sz="1800" b="0" dirty="0">
              <a:solidFill>
                <a:srgbClr val="000000"/>
              </a:solidFill>
              <a:effectLst/>
              <a:latin typeface="Calibri" panose="020F0502020204030204" pitchFamily="34" charset="0"/>
              <a:cs typeface="Calibri" panose="020F0502020204030204" pitchFamily="34" charset="0"/>
            </a:endParaRPr>
          </a:p>
          <a:p>
            <a:pPr marL="400050" indent="-400050">
              <a:buFont typeface="+mj-lt"/>
              <a:buAutoNum type="romanUcPeriod"/>
            </a:pPr>
            <a:r>
              <a:rPr lang="en-US" sz="1800" b="0" dirty="0">
                <a:solidFill>
                  <a:srgbClr val="000000"/>
                </a:solidFill>
                <a:effectLst/>
                <a:latin typeface="Calibri" panose="020F0502020204030204" pitchFamily="34" charset="0"/>
                <a:cs typeface="Calibri" panose="020F0502020204030204" pitchFamily="34" charset="0"/>
              </a:rPr>
              <a:t>EPOCHS=</a:t>
            </a:r>
            <a:r>
              <a:rPr lang="en-US" sz="1800" b="0" dirty="0">
                <a:solidFill>
                  <a:srgbClr val="09885A"/>
                </a:solidFill>
                <a:effectLst/>
                <a:latin typeface="Calibri" panose="020F0502020204030204" pitchFamily="34" charset="0"/>
                <a:cs typeface="Calibri" panose="020F0502020204030204" pitchFamily="34" charset="0"/>
              </a:rPr>
              <a:t>50</a:t>
            </a:r>
            <a:endParaRPr lang="en-US" sz="1800" b="0" dirty="0">
              <a:solidFill>
                <a:srgbClr val="000000"/>
              </a:solidFill>
              <a:effectLst/>
              <a:latin typeface="Calibri" panose="020F0502020204030204" pitchFamily="34" charset="0"/>
              <a:cs typeface="Calibri" panose="020F0502020204030204" pitchFamily="34" charset="0"/>
            </a:endParaRPr>
          </a:p>
          <a:p>
            <a:pPr marL="400050" indent="-400050">
              <a:buFont typeface="+mj-lt"/>
              <a:buAutoNum type="romanUcPeriod"/>
            </a:pP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2738862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AE11DD-3A85-4BA7-95B4-1AB713B31EB2}"/>
              </a:ext>
            </a:extLst>
          </p:cNvPr>
          <p:cNvSpPr>
            <a:spLocks noGrp="1"/>
          </p:cNvSpPr>
          <p:nvPr>
            <p:ph type="title"/>
          </p:nvPr>
        </p:nvSpPr>
        <p:spPr/>
        <p:txBody>
          <a:bodyPr/>
          <a:lstStyle/>
          <a:p>
            <a:pPr algn="ctr"/>
            <a:r>
              <a:rPr lang="en-IN" dirty="0"/>
              <a:t>IMAGE CLASSIFICATION APPROACH</a:t>
            </a:r>
          </a:p>
        </p:txBody>
      </p:sp>
      <p:sp>
        <p:nvSpPr>
          <p:cNvPr id="3" name="Content Placeholder 2">
            <a:extLst>
              <a:ext uri="{FF2B5EF4-FFF2-40B4-BE49-F238E27FC236}">
                <a16:creationId xmlns:a16="http://schemas.microsoft.com/office/drawing/2014/main" id="{E24DF85A-069E-402C-BA36-465459DD11FE}"/>
              </a:ext>
            </a:extLst>
          </p:cNvPr>
          <p:cNvSpPr>
            <a:spLocks noGrp="1"/>
          </p:cNvSpPr>
          <p:nvPr>
            <p:ph idx="1"/>
          </p:nvPr>
        </p:nvSpPr>
        <p:spPr/>
        <p:txBody>
          <a:bodyPr/>
          <a:lstStyle/>
          <a:p>
            <a:r>
              <a:rPr lang="en-IN" dirty="0"/>
              <a:t>Transfer Learning- (VGG16)</a:t>
            </a:r>
          </a:p>
          <a:p>
            <a:r>
              <a:rPr lang="en-IN" dirty="0"/>
              <a:t>A CNN architecture that is 16 layers deep. </a:t>
            </a:r>
          </a:p>
          <a:p>
            <a:r>
              <a:rPr lang="en-IN" dirty="0"/>
              <a:t>It load a pertained version of the network trained on more no. of images.</a:t>
            </a:r>
          </a:p>
          <a:p>
            <a:r>
              <a:rPr lang="en-IN" dirty="0"/>
              <a:t>The pertained network can classify image into 1000 object categories.</a:t>
            </a:r>
          </a:p>
        </p:txBody>
      </p:sp>
    </p:spTree>
    <p:extLst>
      <p:ext uri="{BB962C8B-B14F-4D97-AF65-F5344CB8AC3E}">
        <p14:creationId xmlns:p14="http://schemas.microsoft.com/office/powerpoint/2010/main" val="15208307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C65C17-0E50-410D-9A81-65F3962A195C}"/>
              </a:ext>
            </a:extLst>
          </p:cNvPr>
          <p:cNvSpPr>
            <a:spLocks noGrp="1"/>
          </p:cNvSpPr>
          <p:nvPr>
            <p:ph type="title"/>
          </p:nvPr>
        </p:nvSpPr>
        <p:spPr/>
        <p:txBody>
          <a:bodyPr/>
          <a:lstStyle/>
          <a:p>
            <a:r>
              <a:rPr lang="en-IN" dirty="0"/>
              <a:t>            Model Compilation &amp; KEYS</a:t>
            </a:r>
          </a:p>
        </p:txBody>
      </p:sp>
      <p:sp>
        <p:nvSpPr>
          <p:cNvPr id="3" name="Content Placeholder 2">
            <a:extLst>
              <a:ext uri="{FF2B5EF4-FFF2-40B4-BE49-F238E27FC236}">
                <a16:creationId xmlns:a16="http://schemas.microsoft.com/office/drawing/2014/main" id="{01CBE3A9-FC00-4C92-8263-EF14A9E6A3B1}"/>
              </a:ext>
            </a:extLst>
          </p:cNvPr>
          <p:cNvSpPr>
            <a:spLocks noGrp="1"/>
          </p:cNvSpPr>
          <p:nvPr>
            <p:ph idx="1"/>
          </p:nvPr>
        </p:nvSpPr>
        <p:spPr/>
        <p:txBody>
          <a:bodyPr/>
          <a:lstStyle/>
          <a:p>
            <a:r>
              <a:rPr lang="en-IN" sz="1800" b="0" dirty="0">
                <a:solidFill>
                  <a:srgbClr val="000000"/>
                </a:solidFill>
                <a:effectLst/>
                <a:latin typeface="Calibri" panose="020F0502020204030204" pitchFamily="34" charset="0"/>
                <a:cs typeface="Calibri" panose="020F0502020204030204" pitchFamily="34" charset="0"/>
              </a:rPr>
              <a:t>optimizer=</a:t>
            </a:r>
            <a:r>
              <a:rPr lang="en-IN" sz="1800" b="0" dirty="0">
                <a:solidFill>
                  <a:srgbClr val="A31515"/>
                </a:solidFill>
                <a:effectLst/>
                <a:latin typeface="Calibri" panose="020F0502020204030204" pitchFamily="34" charset="0"/>
                <a:cs typeface="Calibri" panose="020F0502020204030204" pitchFamily="34" charset="0"/>
              </a:rPr>
              <a:t>'</a:t>
            </a:r>
            <a:r>
              <a:rPr lang="en-IN" sz="1800" b="0" dirty="0" err="1">
                <a:solidFill>
                  <a:srgbClr val="A31515"/>
                </a:solidFill>
                <a:effectLst/>
                <a:latin typeface="Calibri" panose="020F0502020204030204" pitchFamily="34" charset="0"/>
                <a:cs typeface="Calibri" panose="020F0502020204030204" pitchFamily="34" charset="0"/>
              </a:rPr>
              <a:t>adam</a:t>
            </a:r>
            <a:r>
              <a:rPr lang="en-IN" sz="1800" b="0" dirty="0">
                <a:solidFill>
                  <a:srgbClr val="A31515"/>
                </a:solidFill>
                <a:effectLst/>
                <a:latin typeface="Calibri" panose="020F0502020204030204" pitchFamily="34" charset="0"/>
                <a:cs typeface="Calibri" panose="020F0502020204030204" pitchFamily="34" charset="0"/>
              </a:rPr>
              <a:t>'</a:t>
            </a:r>
            <a:r>
              <a:rPr lang="en-IN" sz="1800" b="0" dirty="0">
                <a:solidFill>
                  <a:srgbClr val="000000"/>
                </a:solidFill>
                <a:effectLst/>
                <a:latin typeface="Calibri" panose="020F0502020204030204" pitchFamily="34" charset="0"/>
                <a:cs typeface="Calibri" panose="020F0502020204030204" pitchFamily="34" charset="0"/>
              </a:rPr>
              <a:t>,</a:t>
            </a:r>
          </a:p>
          <a:p>
            <a:r>
              <a:rPr lang="en-IN" sz="1800" b="0" dirty="0">
                <a:solidFill>
                  <a:srgbClr val="000000"/>
                </a:solidFill>
                <a:effectLst/>
                <a:latin typeface="Calibri" panose="020F0502020204030204" pitchFamily="34" charset="0"/>
                <a:cs typeface="Calibri" panose="020F0502020204030204" pitchFamily="34" charset="0"/>
              </a:rPr>
              <a:t>loss=tf.keras.losses.SparseCategoricalCrossentropy(</a:t>
            </a:r>
            <a:r>
              <a:rPr lang="en-IN" sz="1800" b="0" dirty="0" err="1">
                <a:solidFill>
                  <a:srgbClr val="000000"/>
                </a:solidFill>
                <a:effectLst/>
                <a:latin typeface="Calibri" panose="020F0502020204030204" pitchFamily="34" charset="0"/>
                <a:cs typeface="Calibri" panose="020F0502020204030204" pitchFamily="34" charset="0"/>
              </a:rPr>
              <a:t>from_logits</a:t>
            </a:r>
            <a:r>
              <a:rPr lang="en-IN" sz="1800" b="0" dirty="0">
                <a:solidFill>
                  <a:srgbClr val="000000"/>
                </a:solidFill>
                <a:effectLst/>
                <a:latin typeface="Calibri" panose="020F0502020204030204" pitchFamily="34" charset="0"/>
                <a:cs typeface="Calibri" panose="020F0502020204030204" pitchFamily="34" charset="0"/>
              </a:rPr>
              <a:t>=</a:t>
            </a:r>
            <a:r>
              <a:rPr lang="en-IN" sz="1800" b="0" dirty="0">
                <a:solidFill>
                  <a:srgbClr val="0000FF"/>
                </a:solidFill>
                <a:effectLst/>
                <a:latin typeface="Calibri" panose="020F0502020204030204" pitchFamily="34" charset="0"/>
                <a:cs typeface="Calibri" panose="020F0502020204030204" pitchFamily="34" charset="0"/>
              </a:rPr>
              <a:t>False</a:t>
            </a:r>
            <a:r>
              <a:rPr lang="en-IN" sz="1800" b="0" dirty="0">
                <a:solidFill>
                  <a:srgbClr val="000000"/>
                </a:solidFill>
                <a:effectLst/>
                <a:latin typeface="Calibri" panose="020F0502020204030204" pitchFamily="34" charset="0"/>
                <a:cs typeface="Calibri" panose="020F0502020204030204" pitchFamily="34" charset="0"/>
              </a:rPr>
              <a:t>),</a:t>
            </a:r>
          </a:p>
          <a:p>
            <a:r>
              <a:rPr lang="en-IN" sz="1800" b="0" dirty="0">
                <a:solidFill>
                  <a:srgbClr val="000000"/>
                </a:solidFill>
                <a:effectLst/>
                <a:latin typeface="Calibri" panose="020F0502020204030204" pitchFamily="34" charset="0"/>
                <a:cs typeface="Calibri" panose="020F0502020204030204" pitchFamily="34" charset="0"/>
              </a:rPr>
              <a:t>metrics=[</a:t>
            </a:r>
            <a:r>
              <a:rPr lang="en-IN" sz="1800" b="0" dirty="0">
                <a:solidFill>
                  <a:srgbClr val="A31515"/>
                </a:solidFill>
                <a:effectLst/>
                <a:latin typeface="Calibri" panose="020F0502020204030204" pitchFamily="34" charset="0"/>
                <a:cs typeface="Calibri" panose="020F0502020204030204" pitchFamily="34" charset="0"/>
              </a:rPr>
              <a:t>'accuracy’</a:t>
            </a:r>
            <a:r>
              <a:rPr lang="en-IN" sz="1800" b="0" dirty="0">
                <a:solidFill>
                  <a:srgbClr val="000000"/>
                </a:solidFill>
                <a:effectLst/>
                <a:latin typeface="Calibri" panose="020F0502020204030204" pitchFamily="34" charset="0"/>
                <a:cs typeface="Calibri" panose="020F0502020204030204" pitchFamily="34" charset="0"/>
              </a:rPr>
              <a:t>]</a:t>
            </a:r>
          </a:p>
          <a:p>
            <a:r>
              <a:rPr lang="en-US" sz="1800" b="0" i="0" dirty="0">
                <a:solidFill>
                  <a:srgbClr val="212121"/>
                </a:solidFill>
                <a:effectLst/>
                <a:latin typeface="Calibri" panose="020F0502020204030204" pitchFamily="34" charset="0"/>
                <a:cs typeface="Calibri" panose="020F0502020204030204" pitchFamily="34" charset="0"/>
              </a:rPr>
              <a:t>KEYS= ['loss', 'accuracy', '</a:t>
            </a:r>
            <a:r>
              <a:rPr lang="en-US" sz="1800" b="0" i="0" dirty="0" err="1">
                <a:solidFill>
                  <a:srgbClr val="212121"/>
                </a:solidFill>
                <a:effectLst/>
                <a:latin typeface="Calibri" panose="020F0502020204030204" pitchFamily="34" charset="0"/>
                <a:cs typeface="Calibri" panose="020F0502020204030204" pitchFamily="34" charset="0"/>
              </a:rPr>
              <a:t>val_loss</a:t>
            </a:r>
            <a:r>
              <a:rPr lang="en-US" sz="1800" b="0" i="0" dirty="0">
                <a:solidFill>
                  <a:srgbClr val="212121"/>
                </a:solidFill>
                <a:effectLst/>
                <a:latin typeface="Calibri" panose="020F0502020204030204" pitchFamily="34" charset="0"/>
                <a:cs typeface="Calibri" panose="020F0502020204030204" pitchFamily="34" charset="0"/>
              </a:rPr>
              <a:t>', '</a:t>
            </a:r>
            <a:r>
              <a:rPr lang="en-US" sz="1800" b="0" i="0" dirty="0" err="1">
                <a:solidFill>
                  <a:srgbClr val="212121"/>
                </a:solidFill>
                <a:effectLst/>
                <a:latin typeface="Calibri" panose="020F0502020204030204" pitchFamily="34" charset="0"/>
                <a:cs typeface="Calibri" panose="020F0502020204030204" pitchFamily="34" charset="0"/>
              </a:rPr>
              <a:t>val_accuracy</a:t>
            </a:r>
            <a:r>
              <a:rPr lang="en-US" sz="1800" b="0" i="0" dirty="0">
                <a:solidFill>
                  <a:srgbClr val="212121"/>
                </a:solidFill>
                <a:effectLst/>
                <a:latin typeface="Calibri" panose="020F0502020204030204" pitchFamily="34" charset="0"/>
                <a:cs typeface="Calibri" panose="020F0502020204030204" pitchFamily="34" charset="0"/>
              </a:rPr>
              <a:t>’]</a:t>
            </a:r>
            <a:endParaRPr lang="en-IN" sz="1800" b="0" dirty="0">
              <a:solidFill>
                <a:srgbClr val="000000"/>
              </a:solidFill>
              <a:effectLst/>
              <a:latin typeface="Calibri" panose="020F0502020204030204" pitchFamily="34" charset="0"/>
              <a:cs typeface="Calibri" panose="020F0502020204030204" pitchFamily="34" charset="0"/>
            </a:endParaRPr>
          </a:p>
          <a:p>
            <a:endParaRPr lang="en-IN" sz="1800" b="0" dirty="0">
              <a:solidFill>
                <a:srgbClr val="000000"/>
              </a:solidFill>
              <a:effectLst/>
              <a:latin typeface="Calibri" panose="020F0502020204030204" pitchFamily="34" charset="0"/>
              <a:cs typeface="Calibri" panose="020F0502020204030204" pitchFamily="34" charset="0"/>
            </a:endParaRPr>
          </a:p>
          <a:p>
            <a:endParaRPr lang="en-IN" dirty="0"/>
          </a:p>
        </p:txBody>
      </p:sp>
    </p:spTree>
    <p:extLst>
      <p:ext uri="{BB962C8B-B14F-4D97-AF65-F5344CB8AC3E}">
        <p14:creationId xmlns:p14="http://schemas.microsoft.com/office/powerpoint/2010/main" val="41266293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44B530-F30E-4CF5-AB69-E46D9DC73F44}"/>
              </a:ext>
            </a:extLst>
          </p:cNvPr>
          <p:cNvSpPr>
            <a:spLocks noGrp="1"/>
          </p:cNvSpPr>
          <p:nvPr>
            <p:ph type="title"/>
          </p:nvPr>
        </p:nvSpPr>
        <p:spPr/>
        <p:txBody>
          <a:bodyPr/>
          <a:lstStyle/>
          <a:p>
            <a:r>
              <a:rPr lang="en-IN" dirty="0"/>
              <a:t>                    MODEL EVALUATION</a:t>
            </a:r>
          </a:p>
        </p:txBody>
      </p:sp>
      <p:sp>
        <p:nvSpPr>
          <p:cNvPr id="6" name="Content Placeholder 5">
            <a:extLst>
              <a:ext uri="{FF2B5EF4-FFF2-40B4-BE49-F238E27FC236}">
                <a16:creationId xmlns:a16="http://schemas.microsoft.com/office/drawing/2014/main" id="{9B3BE51F-8DE2-4613-8F78-DDC72B387680}"/>
              </a:ext>
            </a:extLst>
          </p:cNvPr>
          <p:cNvSpPr>
            <a:spLocks noGrp="1"/>
          </p:cNvSpPr>
          <p:nvPr>
            <p:ph idx="1"/>
          </p:nvPr>
        </p:nvSpPr>
        <p:spPr/>
        <p:txBody>
          <a:bodyPr/>
          <a:lstStyle/>
          <a:p>
            <a:endParaRPr lang="en-IN"/>
          </a:p>
        </p:txBody>
      </p:sp>
      <p:pic>
        <p:nvPicPr>
          <p:cNvPr id="1026" name="Picture 2">
            <a:extLst>
              <a:ext uri="{FF2B5EF4-FFF2-40B4-BE49-F238E27FC236}">
                <a16:creationId xmlns:a16="http://schemas.microsoft.com/office/drawing/2014/main" id="{E9840414-9D3C-41E2-91E9-3B4ADB61611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20887" y="1853754"/>
            <a:ext cx="6082748" cy="41997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903204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BC3085-91CB-44DE-A999-30EE1792C6EB}"/>
              </a:ext>
            </a:extLst>
          </p:cNvPr>
          <p:cNvSpPr>
            <a:spLocks noGrp="1"/>
          </p:cNvSpPr>
          <p:nvPr>
            <p:ph type="title"/>
          </p:nvPr>
        </p:nvSpPr>
        <p:spPr/>
        <p:txBody>
          <a:bodyPr/>
          <a:lstStyle/>
          <a:p>
            <a:r>
              <a:rPr lang="en-IN" dirty="0"/>
              <a:t>                      MODEL SUMMARY</a:t>
            </a:r>
          </a:p>
        </p:txBody>
      </p:sp>
      <p:sp>
        <p:nvSpPr>
          <p:cNvPr id="3" name="Content Placeholder 2">
            <a:extLst>
              <a:ext uri="{FF2B5EF4-FFF2-40B4-BE49-F238E27FC236}">
                <a16:creationId xmlns:a16="http://schemas.microsoft.com/office/drawing/2014/main" id="{534C3F17-83B4-472F-926B-C9842D2475B1}"/>
              </a:ext>
            </a:extLst>
          </p:cNvPr>
          <p:cNvSpPr>
            <a:spLocks noGrp="1"/>
          </p:cNvSpPr>
          <p:nvPr>
            <p:ph idx="1"/>
          </p:nvPr>
        </p:nvSpPr>
        <p:spPr/>
        <p:txBody>
          <a:bodyPr/>
          <a:lstStyle/>
          <a:p>
            <a:r>
              <a:rPr lang="en-IN" dirty="0"/>
              <a:t>Model Score- </a:t>
            </a:r>
            <a:r>
              <a:rPr lang="en-IN" b="0" i="0" dirty="0">
                <a:solidFill>
                  <a:srgbClr val="212121"/>
                </a:solidFill>
                <a:effectLst/>
                <a:latin typeface="Courier New" panose="02070309020205020404" pitchFamily="49" charset="0"/>
              </a:rPr>
              <a:t>loss: 0.2625 - accuracy: 0.9167</a:t>
            </a:r>
          </a:p>
          <a:p>
            <a:r>
              <a:rPr lang="en-IN" dirty="0">
                <a:solidFill>
                  <a:srgbClr val="212121"/>
                </a:solidFill>
                <a:cs typeface="Calibri" panose="020F0502020204030204" pitchFamily="34" charset="0"/>
              </a:rPr>
              <a:t>Parameters- </a:t>
            </a:r>
            <a:r>
              <a:rPr lang="en-IN" b="0" i="0" dirty="0">
                <a:solidFill>
                  <a:srgbClr val="212121"/>
                </a:solidFill>
                <a:effectLst/>
                <a:latin typeface="Courier New" panose="02070309020205020404" pitchFamily="49" charset="0"/>
              </a:rPr>
              <a:t>'epochs': 50, 'steps': 16, 'verbose’: 1</a:t>
            </a:r>
          </a:p>
          <a:p>
            <a:r>
              <a:rPr lang="en-IN" dirty="0">
                <a:solidFill>
                  <a:srgbClr val="212121"/>
                </a:solidFill>
                <a:cs typeface="Calibri" panose="020F0502020204030204" pitchFamily="34" charset="0"/>
              </a:rPr>
              <a:t>Activation function</a:t>
            </a:r>
            <a:r>
              <a:rPr lang="en-IN" dirty="0">
                <a:solidFill>
                  <a:srgbClr val="212121"/>
                </a:solidFill>
                <a:latin typeface="Courier New" panose="02070309020205020404" pitchFamily="49" charset="0"/>
                <a:cs typeface="Calibri" panose="020F0502020204030204" pitchFamily="34" charset="0"/>
              </a:rPr>
              <a:t>- </a:t>
            </a:r>
            <a:r>
              <a:rPr lang="en-IN" dirty="0" err="1">
                <a:solidFill>
                  <a:srgbClr val="212121"/>
                </a:solidFill>
                <a:latin typeface="Courier New" panose="02070309020205020404" pitchFamily="49" charset="0"/>
                <a:cs typeface="Calibri" panose="020F0502020204030204" pitchFamily="34" charset="0"/>
              </a:rPr>
              <a:t>relu</a:t>
            </a:r>
            <a:r>
              <a:rPr lang="en-IN" dirty="0">
                <a:solidFill>
                  <a:srgbClr val="212121"/>
                </a:solidFill>
                <a:latin typeface="Courier New" panose="02070309020205020404" pitchFamily="49" charset="0"/>
                <a:cs typeface="Calibri" panose="020F0502020204030204" pitchFamily="34" charset="0"/>
              </a:rPr>
              <a:t> &amp; </a:t>
            </a:r>
            <a:r>
              <a:rPr lang="en-IN" dirty="0" err="1">
                <a:solidFill>
                  <a:srgbClr val="212121"/>
                </a:solidFill>
                <a:latin typeface="Courier New" panose="02070309020205020404" pitchFamily="49" charset="0"/>
                <a:cs typeface="Calibri" panose="020F0502020204030204" pitchFamily="34" charset="0"/>
              </a:rPr>
              <a:t>softmax</a:t>
            </a:r>
            <a:endParaRPr lang="en-IN" dirty="0">
              <a:cs typeface="Calibri" panose="020F0502020204030204" pitchFamily="34" charset="0"/>
            </a:endParaRPr>
          </a:p>
        </p:txBody>
      </p:sp>
    </p:spTree>
    <p:extLst>
      <p:ext uri="{BB962C8B-B14F-4D97-AF65-F5344CB8AC3E}">
        <p14:creationId xmlns:p14="http://schemas.microsoft.com/office/powerpoint/2010/main" val="3778779719"/>
      </p:ext>
    </p:extLst>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docProps/app.xml><?xml version="1.0" encoding="utf-8"?>
<Properties xmlns="http://schemas.openxmlformats.org/officeDocument/2006/extended-properties" xmlns:vt="http://schemas.openxmlformats.org/officeDocument/2006/docPropsVTypes">
  <Template>Gallery</Template>
  <TotalTime>1182</TotalTime>
  <Words>323</Words>
  <Application>Microsoft Office PowerPoint</Application>
  <PresentationFormat>Widescreen</PresentationFormat>
  <Paragraphs>35</Paragraphs>
  <Slides>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Arial</vt:lpstr>
      <vt:lpstr>Calibri</vt:lpstr>
      <vt:lpstr>Courier New</vt:lpstr>
      <vt:lpstr>Gill Sans MT</vt:lpstr>
      <vt:lpstr>Gallery</vt:lpstr>
      <vt:lpstr>IMAGE CLASSIFICATION  BY- ANURAG KUMAR</vt:lpstr>
      <vt:lpstr>                              IDEA</vt:lpstr>
      <vt:lpstr>                             Task Division </vt:lpstr>
      <vt:lpstr>Data Collection Phase</vt:lpstr>
      <vt:lpstr>                                             Model Building Phase</vt:lpstr>
      <vt:lpstr>IMAGE CLASSIFICATION APPROACH</vt:lpstr>
      <vt:lpstr>            Model Compilation &amp; KEYS</vt:lpstr>
      <vt:lpstr>                    MODEL EVALUATION</vt:lpstr>
      <vt:lpstr>                      MODEL SUMMARY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IMAGE CLASSIFICATION  BY- ANURAG KUMAR</dc:title>
  <dc:creator>Anurag</dc:creator>
  <cp:lastModifiedBy>Anurag</cp:lastModifiedBy>
  <cp:revision>1</cp:revision>
  <dcterms:created xsi:type="dcterms:W3CDTF">2021-09-23T09:39:30Z</dcterms:created>
  <dcterms:modified xsi:type="dcterms:W3CDTF">2021-09-24T05:22:00Z</dcterms:modified>
</cp:coreProperties>
</file>