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2" r:id="rId6"/>
    <p:sldId id="301" r:id="rId7"/>
    <p:sldId id="303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20" r:id="rId21"/>
    <p:sldId id="31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19" autoAdjust="0"/>
  </p:normalViewPr>
  <p:slideViewPr>
    <p:cSldViewPr snapToGrid="0">
      <p:cViewPr varScale="1">
        <p:scale>
          <a:sx n="90" d="100"/>
          <a:sy n="90" d="100"/>
        </p:scale>
        <p:origin x="26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07733C-816F-4F8A-9829-06D7196A786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6F9C310-87A9-4DC2-A62D-6D5D56642673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After Hyper Tuning  using GridSearchCV in Lasso, it comes to know alpha=0.1 is best Parameter.</a:t>
          </a:r>
        </a:p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After Hyper Tuning  using GridSearchCV in Random Forest, it comes to know max_features= 'auto', min_samples_split= 4, n_estimators= 20, are best parameters.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CD1357-B677-4167-98A7-C3E0A6B352BB}" type="parTrans" cxnId="{E1072957-EB04-485C-8647-2D4828496A27}">
      <dgm:prSet/>
      <dgm:spPr/>
      <dgm:t>
        <a:bodyPr/>
        <a:lstStyle/>
        <a:p>
          <a:endParaRPr lang="en-US"/>
        </a:p>
      </dgm:t>
    </dgm:pt>
    <dgm:pt modelId="{6B6EF02D-A517-4308-A225-802A13919720}" type="sibTrans" cxnId="{E1072957-EB04-485C-8647-2D4828496A27}">
      <dgm:prSet/>
      <dgm:spPr/>
      <dgm:t>
        <a:bodyPr/>
        <a:lstStyle/>
        <a:p>
          <a:endParaRPr lang="en-US"/>
        </a:p>
      </dgm:t>
    </dgm:pt>
    <dgm:pt modelId="{7AED8EEF-11A1-4877-B497-C0365BFCA543}">
      <dgm:prSet/>
      <dgm:spPr/>
      <dgm:t>
        <a:bodyPr/>
        <a:lstStyle/>
        <a:p>
          <a:r>
            <a:rPr lang="en-IN" dirty="0"/>
            <a:t>Accuracy Score of Lasso model is 85%.</a:t>
          </a:r>
        </a:p>
        <a:p>
          <a:r>
            <a:rPr lang="en-IN" dirty="0"/>
            <a:t>Whereas Random Forest Regressor model has score about 97.4%.</a:t>
          </a:r>
          <a:endParaRPr lang="en-US" dirty="0"/>
        </a:p>
      </dgm:t>
    </dgm:pt>
    <dgm:pt modelId="{3EFFB08D-5784-402D-A4D7-4A55DEBAF256}" type="parTrans" cxnId="{1E6BB89C-D1BA-41FE-8954-6DFE1D2498A3}">
      <dgm:prSet/>
      <dgm:spPr/>
      <dgm:t>
        <a:bodyPr/>
        <a:lstStyle/>
        <a:p>
          <a:endParaRPr lang="en-US"/>
        </a:p>
      </dgm:t>
    </dgm:pt>
    <dgm:pt modelId="{49CB6E82-2E0B-4578-9922-D69074196CEE}" type="sibTrans" cxnId="{1E6BB89C-D1BA-41FE-8954-6DFE1D2498A3}">
      <dgm:prSet/>
      <dgm:spPr/>
      <dgm:t>
        <a:bodyPr/>
        <a:lstStyle/>
        <a:p>
          <a:endParaRPr lang="en-US"/>
        </a:p>
      </dgm:t>
    </dgm:pt>
    <dgm:pt modelId="{517F5512-47A5-4E8F-AAE2-421BE5AEC2B4}">
      <dgm:prSet/>
      <dgm:spPr/>
      <dgm:t>
        <a:bodyPr/>
        <a:lstStyle/>
        <a:p>
          <a:r>
            <a:rPr lang="en-IN" dirty="0"/>
            <a:t>Some important features which decide price either in positive or negative way are-</a:t>
          </a:r>
          <a:endParaRPr lang="en-US" dirty="0"/>
        </a:p>
      </dgm:t>
    </dgm:pt>
    <dgm:pt modelId="{C4B2FA86-3541-4361-ADFD-EA3C1A351F67}" type="parTrans" cxnId="{A3B985B2-BEA1-453E-B4EE-7D09018F00DB}">
      <dgm:prSet/>
      <dgm:spPr/>
      <dgm:t>
        <a:bodyPr/>
        <a:lstStyle/>
        <a:p>
          <a:endParaRPr lang="en-US"/>
        </a:p>
      </dgm:t>
    </dgm:pt>
    <dgm:pt modelId="{153B64AE-2F0E-4889-866D-53A16034C0C5}" type="sibTrans" cxnId="{A3B985B2-BEA1-453E-B4EE-7D09018F00DB}">
      <dgm:prSet/>
      <dgm:spPr/>
      <dgm:t>
        <a:bodyPr/>
        <a:lstStyle/>
        <a:p>
          <a:endParaRPr lang="en-US"/>
        </a:p>
      </dgm:t>
    </dgm:pt>
    <dgm:pt modelId="{B639A575-A1D9-40A1-A5FA-6089BF30228E}">
      <dgm:prSet/>
      <dgm:spPr/>
      <dgm:t>
        <a:bodyPr/>
        <a:lstStyle/>
        <a:p>
          <a:r>
            <a:rPr lang="en-IN"/>
            <a:t>LotArea: </a:t>
          </a:r>
          <a:r>
            <a:rPr lang="en-US"/>
            <a:t>Lot size in square feet</a:t>
          </a:r>
          <a:r>
            <a:rPr lang="en-IN"/>
            <a:t>  </a:t>
          </a:r>
          <a:endParaRPr lang="en-US"/>
        </a:p>
      </dgm:t>
    </dgm:pt>
    <dgm:pt modelId="{7DE8CA34-AD3D-4BD1-9693-F9C4622D055A}" type="parTrans" cxnId="{AD49E820-E347-40C8-A882-EEF9D601F126}">
      <dgm:prSet/>
      <dgm:spPr/>
      <dgm:t>
        <a:bodyPr/>
        <a:lstStyle/>
        <a:p>
          <a:endParaRPr lang="en-US"/>
        </a:p>
      </dgm:t>
    </dgm:pt>
    <dgm:pt modelId="{088EFB7A-5C76-484A-A8A8-1FF460C11B38}" type="sibTrans" cxnId="{AD49E820-E347-40C8-A882-EEF9D601F126}">
      <dgm:prSet/>
      <dgm:spPr/>
      <dgm:t>
        <a:bodyPr/>
        <a:lstStyle/>
        <a:p>
          <a:endParaRPr lang="en-US"/>
        </a:p>
      </dgm:t>
    </dgm:pt>
    <dgm:pt modelId="{872653DB-3891-4EF3-BD26-9A76E5655C32}">
      <dgm:prSet/>
      <dgm:spPr/>
      <dgm:t>
        <a:bodyPr/>
        <a:lstStyle/>
        <a:p>
          <a:r>
            <a:rPr lang="en-IN"/>
            <a:t>BuildingType: Type of dwelling </a:t>
          </a:r>
          <a:endParaRPr lang="en-US"/>
        </a:p>
      </dgm:t>
    </dgm:pt>
    <dgm:pt modelId="{F6F70E13-3C83-4AFE-B261-10DF8751DCFA}" type="parTrans" cxnId="{7734B829-ED4D-406B-B37E-50CCC05C1AA8}">
      <dgm:prSet/>
      <dgm:spPr/>
      <dgm:t>
        <a:bodyPr/>
        <a:lstStyle/>
        <a:p>
          <a:endParaRPr lang="en-US"/>
        </a:p>
      </dgm:t>
    </dgm:pt>
    <dgm:pt modelId="{9A78B1B9-843B-45F8-8644-FF9092E78B13}" type="sibTrans" cxnId="{7734B829-ED4D-406B-B37E-50CCC05C1AA8}">
      <dgm:prSet/>
      <dgm:spPr/>
      <dgm:t>
        <a:bodyPr/>
        <a:lstStyle/>
        <a:p>
          <a:endParaRPr lang="en-US"/>
        </a:p>
      </dgm:t>
    </dgm:pt>
    <dgm:pt modelId="{26A1250B-BDC4-4ED4-9255-C803D62C0563}">
      <dgm:prSet/>
      <dgm:spPr/>
      <dgm:t>
        <a:bodyPr/>
        <a:lstStyle/>
        <a:p>
          <a:r>
            <a:rPr lang="en-IN"/>
            <a:t>House Style: Style of dwelling) </a:t>
          </a:r>
          <a:endParaRPr lang="en-US"/>
        </a:p>
      </dgm:t>
    </dgm:pt>
    <dgm:pt modelId="{E90320AA-CFE5-46BD-A38F-AADE328A6959}" type="parTrans" cxnId="{17D822B2-956A-4AFF-A007-0FD02DAE0D03}">
      <dgm:prSet/>
      <dgm:spPr/>
      <dgm:t>
        <a:bodyPr/>
        <a:lstStyle/>
        <a:p>
          <a:endParaRPr lang="en-US"/>
        </a:p>
      </dgm:t>
    </dgm:pt>
    <dgm:pt modelId="{A129E80F-5754-4E5E-8401-052AFE8725D4}" type="sibTrans" cxnId="{17D822B2-956A-4AFF-A007-0FD02DAE0D03}">
      <dgm:prSet/>
      <dgm:spPr/>
      <dgm:t>
        <a:bodyPr/>
        <a:lstStyle/>
        <a:p>
          <a:endParaRPr lang="en-US"/>
        </a:p>
      </dgm:t>
    </dgm:pt>
    <dgm:pt modelId="{4A9FDFB3-9CB5-4ED4-803F-C58E4EFEDF93}">
      <dgm:prSet/>
      <dgm:spPr/>
      <dgm:t>
        <a:bodyPr/>
        <a:lstStyle/>
        <a:p>
          <a:r>
            <a:rPr lang="en-US"/>
            <a:t>OverallQual: Rates the overall material and finish of the house</a:t>
          </a:r>
        </a:p>
      </dgm:t>
    </dgm:pt>
    <dgm:pt modelId="{108DBA01-917B-4494-A9DB-E2120A019C6E}" type="parTrans" cxnId="{C583CFD0-4FAF-44B6-8DF5-24EC6B7B21B5}">
      <dgm:prSet/>
      <dgm:spPr/>
      <dgm:t>
        <a:bodyPr/>
        <a:lstStyle/>
        <a:p>
          <a:endParaRPr lang="en-US"/>
        </a:p>
      </dgm:t>
    </dgm:pt>
    <dgm:pt modelId="{0822B521-B437-4BCF-970C-C13AEA469C95}" type="sibTrans" cxnId="{C583CFD0-4FAF-44B6-8DF5-24EC6B7B21B5}">
      <dgm:prSet/>
      <dgm:spPr/>
      <dgm:t>
        <a:bodyPr/>
        <a:lstStyle/>
        <a:p>
          <a:endParaRPr lang="en-US"/>
        </a:p>
      </dgm:t>
    </dgm:pt>
    <dgm:pt modelId="{DEE8FE59-8DCA-4B00-9D40-6E9A03023691}">
      <dgm:prSet/>
      <dgm:spPr/>
      <dgm:t>
        <a:bodyPr/>
        <a:lstStyle/>
        <a:p>
          <a:r>
            <a:rPr lang="en-IN"/>
            <a:t>GrLivArea: </a:t>
          </a:r>
          <a:r>
            <a:rPr lang="en-US"/>
            <a:t>Above grade (ground) living area square feet</a:t>
          </a:r>
        </a:p>
      </dgm:t>
    </dgm:pt>
    <dgm:pt modelId="{1565C094-C6AA-43AA-BA56-CE76FCE0183A}" type="parTrans" cxnId="{E9EF5958-5D53-48ED-A105-CCC5E063A99C}">
      <dgm:prSet/>
      <dgm:spPr/>
      <dgm:t>
        <a:bodyPr/>
        <a:lstStyle/>
        <a:p>
          <a:endParaRPr lang="en-US"/>
        </a:p>
      </dgm:t>
    </dgm:pt>
    <dgm:pt modelId="{720FB98D-B7B7-4027-BF4E-5E43488008EE}" type="sibTrans" cxnId="{E9EF5958-5D53-48ED-A105-CCC5E063A99C}">
      <dgm:prSet/>
      <dgm:spPr/>
      <dgm:t>
        <a:bodyPr/>
        <a:lstStyle/>
        <a:p>
          <a:endParaRPr lang="en-US"/>
        </a:p>
      </dgm:t>
    </dgm:pt>
    <dgm:pt modelId="{CF8BD16C-4F5A-489A-9188-232D2E699BD4}">
      <dgm:prSet/>
      <dgm:spPr/>
      <dgm:t>
        <a:bodyPr/>
        <a:lstStyle/>
        <a:p>
          <a:r>
            <a:rPr lang="en-IN"/>
            <a:t>Kitchen: Kitchens above grade</a:t>
          </a:r>
          <a:endParaRPr lang="en-US"/>
        </a:p>
      </dgm:t>
    </dgm:pt>
    <dgm:pt modelId="{E444AD10-131E-42A0-8C1B-3CB713C56360}" type="parTrans" cxnId="{159960E6-6607-44F2-85DD-3BCA18F0811A}">
      <dgm:prSet/>
      <dgm:spPr/>
      <dgm:t>
        <a:bodyPr/>
        <a:lstStyle/>
        <a:p>
          <a:endParaRPr lang="en-US"/>
        </a:p>
      </dgm:t>
    </dgm:pt>
    <dgm:pt modelId="{1A24A28F-6971-4E3E-9BE7-46CF3C54F663}" type="sibTrans" cxnId="{159960E6-6607-44F2-85DD-3BCA18F0811A}">
      <dgm:prSet/>
      <dgm:spPr/>
      <dgm:t>
        <a:bodyPr/>
        <a:lstStyle/>
        <a:p>
          <a:endParaRPr lang="en-US"/>
        </a:p>
      </dgm:t>
    </dgm:pt>
    <dgm:pt modelId="{671886D6-CDB7-4AF7-80C6-BC7300360D48}">
      <dgm:prSet/>
      <dgm:spPr/>
      <dgm:t>
        <a:bodyPr/>
        <a:lstStyle/>
        <a:p>
          <a:r>
            <a:rPr lang="en-IN"/>
            <a:t>GarageCars: </a:t>
          </a:r>
          <a:r>
            <a:rPr lang="en-US"/>
            <a:t>Size of garage in car capacity</a:t>
          </a:r>
        </a:p>
      </dgm:t>
    </dgm:pt>
    <dgm:pt modelId="{85665278-CDD6-433D-8752-BA0152DA271E}" type="parTrans" cxnId="{30900C30-B25A-459E-9ED4-AD12D2AC6833}">
      <dgm:prSet/>
      <dgm:spPr/>
      <dgm:t>
        <a:bodyPr/>
        <a:lstStyle/>
        <a:p>
          <a:endParaRPr lang="en-US"/>
        </a:p>
      </dgm:t>
    </dgm:pt>
    <dgm:pt modelId="{E1EF555D-3660-455A-B071-9C6442AF7315}" type="sibTrans" cxnId="{30900C30-B25A-459E-9ED4-AD12D2AC6833}">
      <dgm:prSet/>
      <dgm:spPr/>
      <dgm:t>
        <a:bodyPr/>
        <a:lstStyle/>
        <a:p>
          <a:endParaRPr lang="en-US"/>
        </a:p>
      </dgm:t>
    </dgm:pt>
    <dgm:pt modelId="{EC941DCA-A033-4A94-ACFD-0077772CB467}" type="pres">
      <dgm:prSet presAssocID="{C507733C-816F-4F8A-9829-06D7196A786D}" presName="vert0" presStyleCnt="0">
        <dgm:presLayoutVars>
          <dgm:dir/>
          <dgm:animOne val="branch"/>
          <dgm:animLvl val="lvl"/>
        </dgm:presLayoutVars>
      </dgm:prSet>
      <dgm:spPr/>
    </dgm:pt>
    <dgm:pt modelId="{572A3685-C511-4539-929B-EA6FD712DE59}" type="pres">
      <dgm:prSet presAssocID="{06F9C310-87A9-4DC2-A62D-6D5D56642673}" presName="thickLine" presStyleLbl="alignNode1" presStyleIdx="0" presStyleCnt="3"/>
      <dgm:spPr/>
    </dgm:pt>
    <dgm:pt modelId="{A3CC855C-2303-4654-8FF0-51BB63AD09CF}" type="pres">
      <dgm:prSet presAssocID="{06F9C310-87A9-4DC2-A62D-6D5D56642673}" presName="horz1" presStyleCnt="0"/>
      <dgm:spPr/>
    </dgm:pt>
    <dgm:pt modelId="{AFD11C74-6746-46A0-88D5-BFD4BBC3FB81}" type="pres">
      <dgm:prSet presAssocID="{06F9C310-87A9-4DC2-A62D-6D5D56642673}" presName="tx1" presStyleLbl="revTx" presStyleIdx="0" presStyleCnt="10" custScaleX="500000"/>
      <dgm:spPr/>
    </dgm:pt>
    <dgm:pt modelId="{54C4A5AE-426A-45B8-8EBB-DD33CB311E4D}" type="pres">
      <dgm:prSet presAssocID="{06F9C310-87A9-4DC2-A62D-6D5D56642673}" presName="vert1" presStyleCnt="0"/>
      <dgm:spPr/>
    </dgm:pt>
    <dgm:pt modelId="{F4F9168C-7CA4-495C-B93A-A90DDCE7058C}" type="pres">
      <dgm:prSet presAssocID="{7AED8EEF-11A1-4877-B497-C0365BFCA543}" presName="thickLine" presStyleLbl="alignNode1" presStyleIdx="1" presStyleCnt="3"/>
      <dgm:spPr/>
    </dgm:pt>
    <dgm:pt modelId="{DB57486D-3B67-424D-BCE0-7BF65F648E39}" type="pres">
      <dgm:prSet presAssocID="{7AED8EEF-11A1-4877-B497-C0365BFCA543}" presName="horz1" presStyleCnt="0"/>
      <dgm:spPr/>
    </dgm:pt>
    <dgm:pt modelId="{021A7BBC-31F7-4D0B-8F8A-0C99BB366F87}" type="pres">
      <dgm:prSet presAssocID="{7AED8EEF-11A1-4877-B497-C0365BFCA543}" presName="tx1" presStyleLbl="revTx" presStyleIdx="1" presStyleCnt="10" custScaleX="500000"/>
      <dgm:spPr/>
    </dgm:pt>
    <dgm:pt modelId="{8F866749-0EC7-40FC-A4EE-2A0B567A6F09}" type="pres">
      <dgm:prSet presAssocID="{7AED8EEF-11A1-4877-B497-C0365BFCA543}" presName="vert1" presStyleCnt="0"/>
      <dgm:spPr/>
    </dgm:pt>
    <dgm:pt modelId="{1021B610-2F2D-4B7A-A38B-A1283401091C}" type="pres">
      <dgm:prSet presAssocID="{517F5512-47A5-4E8F-AAE2-421BE5AEC2B4}" presName="thickLine" presStyleLbl="alignNode1" presStyleIdx="2" presStyleCnt="3"/>
      <dgm:spPr/>
    </dgm:pt>
    <dgm:pt modelId="{9EE623BC-87AB-4873-9B87-D303F81AEC2A}" type="pres">
      <dgm:prSet presAssocID="{517F5512-47A5-4E8F-AAE2-421BE5AEC2B4}" presName="horz1" presStyleCnt="0"/>
      <dgm:spPr/>
    </dgm:pt>
    <dgm:pt modelId="{C84C35AC-ED2D-4A57-92B5-DBA813E94C33}" type="pres">
      <dgm:prSet presAssocID="{517F5512-47A5-4E8F-AAE2-421BE5AEC2B4}" presName="tx1" presStyleLbl="revTx" presStyleIdx="2" presStyleCnt="10"/>
      <dgm:spPr/>
    </dgm:pt>
    <dgm:pt modelId="{A3D47CB7-9022-4279-844C-61700B305F23}" type="pres">
      <dgm:prSet presAssocID="{517F5512-47A5-4E8F-AAE2-421BE5AEC2B4}" presName="vert1" presStyleCnt="0"/>
      <dgm:spPr/>
    </dgm:pt>
    <dgm:pt modelId="{A0BA5104-3021-4CCF-828D-9992D3FECA47}" type="pres">
      <dgm:prSet presAssocID="{B639A575-A1D9-40A1-A5FA-6089BF30228E}" presName="vertSpace2a" presStyleCnt="0"/>
      <dgm:spPr/>
    </dgm:pt>
    <dgm:pt modelId="{018C4FB7-9191-4C5E-8EEF-AAED44170A6C}" type="pres">
      <dgm:prSet presAssocID="{B639A575-A1D9-40A1-A5FA-6089BF30228E}" presName="horz2" presStyleCnt="0"/>
      <dgm:spPr/>
    </dgm:pt>
    <dgm:pt modelId="{58A4857F-4481-4B39-819E-9CF713133E7C}" type="pres">
      <dgm:prSet presAssocID="{B639A575-A1D9-40A1-A5FA-6089BF30228E}" presName="horzSpace2" presStyleCnt="0"/>
      <dgm:spPr/>
    </dgm:pt>
    <dgm:pt modelId="{BA712141-22A0-40C7-A718-2812869E7782}" type="pres">
      <dgm:prSet presAssocID="{B639A575-A1D9-40A1-A5FA-6089BF30228E}" presName="tx2" presStyleLbl="revTx" presStyleIdx="3" presStyleCnt="10"/>
      <dgm:spPr/>
    </dgm:pt>
    <dgm:pt modelId="{C050792C-0891-42FC-833C-0BF87687D0D8}" type="pres">
      <dgm:prSet presAssocID="{B639A575-A1D9-40A1-A5FA-6089BF30228E}" presName="vert2" presStyleCnt="0"/>
      <dgm:spPr/>
    </dgm:pt>
    <dgm:pt modelId="{B4644FC6-B0F2-41D2-87F2-3AD9F14353CF}" type="pres">
      <dgm:prSet presAssocID="{B639A575-A1D9-40A1-A5FA-6089BF30228E}" presName="thinLine2b" presStyleLbl="callout" presStyleIdx="0" presStyleCnt="7"/>
      <dgm:spPr/>
    </dgm:pt>
    <dgm:pt modelId="{56B5C27D-7728-4085-89CC-794DC037E7E2}" type="pres">
      <dgm:prSet presAssocID="{B639A575-A1D9-40A1-A5FA-6089BF30228E}" presName="vertSpace2b" presStyleCnt="0"/>
      <dgm:spPr/>
    </dgm:pt>
    <dgm:pt modelId="{C1360F9B-5152-4346-AF49-4B4D5467FF9B}" type="pres">
      <dgm:prSet presAssocID="{872653DB-3891-4EF3-BD26-9A76E5655C32}" presName="horz2" presStyleCnt="0"/>
      <dgm:spPr/>
    </dgm:pt>
    <dgm:pt modelId="{6B0D4659-D13F-45AD-9C92-70366D162D99}" type="pres">
      <dgm:prSet presAssocID="{872653DB-3891-4EF3-BD26-9A76E5655C32}" presName="horzSpace2" presStyleCnt="0"/>
      <dgm:spPr/>
    </dgm:pt>
    <dgm:pt modelId="{AECE4EB0-565B-4EAE-97B9-7E66F857D391}" type="pres">
      <dgm:prSet presAssocID="{872653DB-3891-4EF3-BD26-9A76E5655C32}" presName="tx2" presStyleLbl="revTx" presStyleIdx="4" presStyleCnt="10"/>
      <dgm:spPr/>
    </dgm:pt>
    <dgm:pt modelId="{23D9FFBC-1B6D-4322-86BE-73AC9AC0B72C}" type="pres">
      <dgm:prSet presAssocID="{872653DB-3891-4EF3-BD26-9A76E5655C32}" presName="vert2" presStyleCnt="0"/>
      <dgm:spPr/>
    </dgm:pt>
    <dgm:pt modelId="{CDDB121C-31E5-42A1-9E0F-ACA48D2C2F66}" type="pres">
      <dgm:prSet presAssocID="{872653DB-3891-4EF3-BD26-9A76E5655C32}" presName="thinLine2b" presStyleLbl="callout" presStyleIdx="1" presStyleCnt="7"/>
      <dgm:spPr/>
    </dgm:pt>
    <dgm:pt modelId="{02E9B1D6-F78D-4BBA-8AF5-F7B7028F9291}" type="pres">
      <dgm:prSet presAssocID="{872653DB-3891-4EF3-BD26-9A76E5655C32}" presName="vertSpace2b" presStyleCnt="0"/>
      <dgm:spPr/>
    </dgm:pt>
    <dgm:pt modelId="{EB97F330-9642-4FC3-854E-E630F5CE6DF6}" type="pres">
      <dgm:prSet presAssocID="{26A1250B-BDC4-4ED4-9255-C803D62C0563}" presName="horz2" presStyleCnt="0"/>
      <dgm:spPr/>
    </dgm:pt>
    <dgm:pt modelId="{F9FDEFC8-23EB-4749-A698-27292A07030A}" type="pres">
      <dgm:prSet presAssocID="{26A1250B-BDC4-4ED4-9255-C803D62C0563}" presName="horzSpace2" presStyleCnt="0"/>
      <dgm:spPr/>
    </dgm:pt>
    <dgm:pt modelId="{C9101430-7E9A-40F2-A153-DB05078C5E02}" type="pres">
      <dgm:prSet presAssocID="{26A1250B-BDC4-4ED4-9255-C803D62C0563}" presName="tx2" presStyleLbl="revTx" presStyleIdx="5" presStyleCnt="10"/>
      <dgm:spPr/>
    </dgm:pt>
    <dgm:pt modelId="{56900490-303D-4BFF-98A5-D03CB6D2853F}" type="pres">
      <dgm:prSet presAssocID="{26A1250B-BDC4-4ED4-9255-C803D62C0563}" presName="vert2" presStyleCnt="0"/>
      <dgm:spPr/>
    </dgm:pt>
    <dgm:pt modelId="{5AC9C186-2E73-4DA8-BE0F-544C899333E5}" type="pres">
      <dgm:prSet presAssocID="{26A1250B-BDC4-4ED4-9255-C803D62C0563}" presName="thinLine2b" presStyleLbl="callout" presStyleIdx="2" presStyleCnt="7"/>
      <dgm:spPr/>
    </dgm:pt>
    <dgm:pt modelId="{6BA6A7FE-3452-44B4-9966-5E5C20BBDE29}" type="pres">
      <dgm:prSet presAssocID="{26A1250B-BDC4-4ED4-9255-C803D62C0563}" presName="vertSpace2b" presStyleCnt="0"/>
      <dgm:spPr/>
    </dgm:pt>
    <dgm:pt modelId="{A9B7B915-14FC-4ACA-8E59-BADBAA48559E}" type="pres">
      <dgm:prSet presAssocID="{4A9FDFB3-9CB5-4ED4-803F-C58E4EFEDF93}" presName="horz2" presStyleCnt="0"/>
      <dgm:spPr/>
    </dgm:pt>
    <dgm:pt modelId="{A47D7468-1D02-4A08-9FA8-E753D79A7D2C}" type="pres">
      <dgm:prSet presAssocID="{4A9FDFB3-9CB5-4ED4-803F-C58E4EFEDF93}" presName="horzSpace2" presStyleCnt="0"/>
      <dgm:spPr/>
    </dgm:pt>
    <dgm:pt modelId="{209A80E3-F02C-4F72-9E7A-9FCD0D85AAEA}" type="pres">
      <dgm:prSet presAssocID="{4A9FDFB3-9CB5-4ED4-803F-C58E4EFEDF93}" presName="tx2" presStyleLbl="revTx" presStyleIdx="6" presStyleCnt="10"/>
      <dgm:spPr/>
    </dgm:pt>
    <dgm:pt modelId="{28D13088-6485-4BC0-AF7C-CCFFB1D1F8C8}" type="pres">
      <dgm:prSet presAssocID="{4A9FDFB3-9CB5-4ED4-803F-C58E4EFEDF93}" presName="vert2" presStyleCnt="0"/>
      <dgm:spPr/>
    </dgm:pt>
    <dgm:pt modelId="{030D39B9-C3CB-4320-9DAB-CE81A436CD6D}" type="pres">
      <dgm:prSet presAssocID="{4A9FDFB3-9CB5-4ED4-803F-C58E4EFEDF93}" presName="thinLine2b" presStyleLbl="callout" presStyleIdx="3" presStyleCnt="7"/>
      <dgm:spPr/>
    </dgm:pt>
    <dgm:pt modelId="{672729DA-AE95-4D89-B340-959D1DB7C42E}" type="pres">
      <dgm:prSet presAssocID="{4A9FDFB3-9CB5-4ED4-803F-C58E4EFEDF93}" presName="vertSpace2b" presStyleCnt="0"/>
      <dgm:spPr/>
    </dgm:pt>
    <dgm:pt modelId="{7D53A858-E228-4E3A-9F85-92F94EF07FBE}" type="pres">
      <dgm:prSet presAssocID="{DEE8FE59-8DCA-4B00-9D40-6E9A03023691}" presName="horz2" presStyleCnt="0"/>
      <dgm:spPr/>
    </dgm:pt>
    <dgm:pt modelId="{10D0E2C2-95D9-40F8-B89B-913223CBEA20}" type="pres">
      <dgm:prSet presAssocID="{DEE8FE59-8DCA-4B00-9D40-6E9A03023691}" presName="horzSpace2" presStyleCnt="0"/>
      <dgm:spPr/>
    </dgm:pt>
    <dgm:pt modelId="{7DAB3596-6BFF-4E3D-9DF1-2B3481AEE3BA}" type="pres">
      <dgm:prSet presAssocID="{DEE8FE59-8DCA-4B00-9D40-6E9A03023691}" presName="tx2" presStyleLbl="revTx" presStyleIdx="7" presStyleCnt="10"/>
      <dgm:spPr/>
    </dgm:pt>
    <dgm:pt modelId="{460D4E7B-28D5-472D-8273-02BFA8836AC4}" type="pres">
      <dgm:prSet presAssocID="{DEE8FE59-8DCA-4B00-9D40-6E9A03023691}" presName="vert2" presStyleCnt="0"/>
      <dgm:spPr/>
    </dgm:pt>
    <dgm:pt modelId="{54D8B877-C743-4FFD-9A09-9CF3C2C790C7}" type="pres">
      <dgm:prSet presAssocID="{DEE8FE59-8DCA-4B00-9D40-6E9A03023691}" presName="thinLine2b" presStyleLbl="callout" presStyleIdx="4" presStyleCnt="7"/>
      <dgm:spPr/>
    </dgm:pt>
    <dgm:pt modelId="{880B00E2-6D90-4E1E-9EDA-2D91D22D9149}" type="pres">
      <dgm:prSet presAssocID="{DEE8FE59-8DCA-4B00-9D40-6E9A03023691}" presName="vertSpace2b" presStyleCnt="0"/>
      <dgm:spPr/>
    </dgm:pt>
    <dgm:pt modelId="{D80FB7A1-D3C6-4F8C-96C5-A89E3557BC2E}" type="pres">
      <dgm:prSet presAssocID="{CF8BD16C-4F5A-489A-9188-232D2E699BD4}" presName="horz2" presStyleCnt="0"/>
      <dgm:spPr/>
    </dgm:pt>
    <dgm:pt modelId="{C6FCE085-8565-4E6A-889A-8ABA2B0C746D}" type="pres">
      <dgm:prSet presAssocID="{CF8BD16C-4F5A-489A-9188-232D2E699BD4}" presName="horzSpace2" presStyleCnt="0"/>
      <dgm:spPr/>
    </dgm:pt>
    <dgm:pt modelId="{A0EAA6B9-4DAD-48B2-923F-376ABC62D987}" type="pres">
      <dgm:prSet presAssocID="{CF8BD16C-4F5A-489A-9188-232D2E699BD4}" presName="tx2" presStyleLbl="revTx" presStyleIdx="8" presStyleCnt="10"/>
      <dgm:spPr/>
    </dgm:pt>
    <dgm:pt modelId="{B3D5C9F6-1FC0-4AAD-A832-D7020FCDBBE5}" type="pres">
      <dgm:prSet presAssocID="{CF8BD16C-4F5A-489A-9188-232D2E699BD4}" presName="vert2" presStyleCnt="0"/>
      <dgm:spPr/>
    </dgm:pt>
    <dgm:pt modelId="{F430D8D6-C994-434C-9B73-ECAE926DBC7C}" type="pres">
      <dgm:prSet presAssocID="{CF8BD16C-4F5A-489A-9188-232D2E699BD4}" presName="thinLine2b" presStyleLbl="callout" presStyleIdx="5" presStyleCnt="7"/>
      <dgm:spPr/>
    </dgm:pt>
    <dgm:pt modelId="{DFA11AF7-C0A1-44EC-B006-959EA67DF462}" type="pres">
      <dgm:prSet presAssocID="{CF8BD16C-4F5A-489A-9188-232D2E699BD4}" presName="vertSpace2b" presStyleCnt="0"/>
      <dgm:spPr/>
    </dgm:pt>
    <dgm:pt modelId="{2716EC7F-E4AE-4C1D-8A58-932D01383D78}" type="pres">
      <dgm:prSet presAssocID="{671886D6-CDB7-4AF7-80C6-BC7300360D48}" presName="horz2" presStyleCnt="0"/>
      <dgm:spPr/>
    </dgm:pt>
    <dgm:pt modelId="{9322066B-6254-49D2-9B8E-75D1D4897647}" type="pres">
      <dgm:prSet presAssocID="{671886D6-CDB7-4AF7-80C6-BC7300360D48}" presName="horzSpace2" presStyleCnt="0"/>
      <dgm:spPr/>
    </dgm:pt>
    <dgm:pt modelId="{038B0E8F-5D5C-4BD8-BEEC-6F070748212F}" type="pres">
      <dgm:prSet presAssocID="{671886D6-CDB7-4AF7-80C6-BC7300360D48}" presName="tx2" presStyleLbl="revTx" presStyleIdx="9" presStyleCnt="10"/>
      <dgm:spPr/>
    </dgm:pt>
    <dgm:pt modelId="{314E9009-C9BA-4FF1-BE4F-310216F4A4A1}" type="pres">
      <dgm:prSet presAssocID="{671886D6-CDB7-4AF7-80C6-BC7300360D48}" presName="vert2" presStyleCnt="0"/>
      <dgm:spPr/>
    </dgm:pt>
    <dgm:pt modelId="{D0B27A23-279A-4ECD-83B3-F46D77061FF8}" type="pres">
      <dgm:prSet presAssocID="{671886D6-CDB7-4AF7-80C6-BC7300360D48}" presName="thinLine2b" presStyleLbl="callout" presStyleIdx="6" presStyleCnt="7"/>
      <dgm:spPr/>
    </dgm:pt>
    <dgm:pt modelId="{704F7056-5226-4EA0-8522-5023C701AD54}" type="pres">
      <dgm:prSet presAssocID="{671886D6-CDB7-4AF7-80C6-BC7300360D48}" presName="vertSpace2b" presStyleCnt="0"/>
      <dgm:spPr/>
    </dgm:pt>
  </dgm:ptLst>
  <dgm:cxnLst>
    <dgm:cxn modelId="{75562504-16F4-45DE-AF22-B9E28CC3B8F3}" type="presOf" srcId="{671886D6-CDB7-4AF7-80C6-BC7300360D48}" destId="{038B0E8F-5D5C-4BD8-BEEC-6F070748212F}" srcOrd="0" destOrd="0" presId="urn:microsoft.com/office/officeart/2008/layout/LinedList"/>
    <dgm:cxn modelId="{66AED816-70EF-4B75-8D94-442CA41B47A5}" type="presOf" srcId="{CF8BD16C-4F5A-489A-9188-232D2E699BD4}" destId="{A0EAA6B9-4DAD-48B2-923F-376ABC62D987}" srcOrd="0" destOrd="0" presId="urn:microsoft.com/office/officeart/2008/layout/LinedList"/>
    <dgm:cxn modelId="{AD49E820-E347-40C8-A882-EEF9D601F126}" srcId="{517F5512-47A5-4E8F-AAE2-421BE5AEC2B4}" destId="{B639A575-A1D9-40A1-A5FA-6089BF30228E}" srcOrd="0" destOrd="0" parTransId="{7DE8CA34-AD3D-4BD1-9693-F9C4622D055A}" sibTransId="{088EFB7A-5C76-484A-A8A8-1FF460C11B38}"/>
    <dgm:cxn modelId="{AA3D3E22-0C46-499F-B053-F26AE91DB761}" type="presOf" srcId="{26A1250B-BDC4-4ED4-9255-C803D62C0563}" destId="{C9101430-7E9A-40F2-A153-DB05078C5E02}" srcOrd="0" destOrd="0" presId="urn:microsoft.com/office/officeart/2008/layout/LinedList"/>
    <dgm:cxn modelId="{7734B829-ED4D-406B-B37E-50CCC05C1AA8}" srcId="{517F5512-47A5-4E8F-AAE2-421BE5AEC2B4}" destId="{872653DB-3891-4EF3-BD26-9A76E5655C32}" srcOrd="1" destOrd="0" parTransId="{F6F70E13-3C83-4AFE-B261-10DF8751DCFA}" sibTransId="{9A78B1B9-843B-45F8-8644-FF9092E78B13}"/>
    <dgm:cxn modelId="{8824CD2C-93C4-4F4D-884D-26FED0715EF2}" type="presOf" srcId="{4A9FDFB3-9CB5-4ED4-803F-C58E4EFEDF93}" destId="{209A80E3-F02C-4F72-9E7A-9FCD0D85AAEA}" srcOrd="0" destOrd="0" presId="urn:microsoft.com/office/officeart/2008/layout/LinedList"/>
    <dgm:cxn modelId="{30900C30-B25A-459E-9ED4-AD12D2AC6833}" srcId="{517F5512-47A5-4E8F-AAE2-421BE5AEC2B4}" destId="{671886D6-CDB7-4AF7-80C6-BC7300360D48}" srcOrd="6" destOrd="0" parTransId="{85665278-CDD6-433D-8752-BA0152DA271E}" sibTransId="{E1EF555D-3660-455A-B071-9C6442AF7315}"/>
    <dgm:cxn modelId="{97CA0036-B828-487B-A59E-6404B4FD6884}" type="presOf" srcId="{517F5512-47A5-4E8F-AAE2-421BE5AEC2B4}" destId="{C84C35AC-ED2D-4A57-92B5-DBA813E94C33}" srcOrd="0" destOrd="0" presId="urn:microsoft.com/office/officeart/2008/layout/LinedList"/>
    <dgm:cxn modelId="{5F8A0662-1EC0-462D-99E6-191CAAFD5E8B}" type="presOf" srcId="{7AED8EEF-11A1-4877-B497-C0365BFCA543}" destId="{021A7BBC-31F7-4D0B-8F8A-0C99BB366F87}" srcOrd="0" destOrd="0" presId="urn:microsoft.com/office/officeart/2008/layout/LinedList"/>
    <dgm:cxn modelId="{E1072957-EB04-485C-8647-2D4828496A27}" srcId="{C507733C-816F-4F8A-9829-06D7196A786D}" destId="{06F9C310-87A9-4DC2-A62D-6D5D56642673}" srcOrd="0" destOrd="0" parTransId="{FFCD1357-B677-4167-98A7-C3E0A6B352BB}" sibTransId="{6B6EF02D-A517-4308-A225-802A13919720}"/>
    <dgm:cxn modelId="{E9EF5958-5D53-48ED-A105-CCC5E063A99C}" srcId="{517F5512-47A5-4E8F-AAE2-421BE5AEC2B4}" destId="{DEE8FE59-8DCA-4B00-9D40-6E9A03023691}" srcOrd="4" destOrd="0" parTransId="{1565C094-C6AA-43AA-BA56-CE76FCE0183A}" sibTransId="{720FB98D-B7B7-4027-BF4E-5E43488008EE}"/>
    <dgm:cxn modelId="{7050A887-C8D7-4C0C-8FAE-DD9435B64152}" type="presOf" srcId="{DEE8FE59-8DCA-4B00-9D40-6E9A03023691}" destId="{7DAB3596-6BFF-4E3D-9DF1-2B3481AEE3BA}" srcOrd="0" destOrd="0" presId="urn:microsoft.com/office/officeart/2008/layout/LinedList"/>
    <dgm:cxn modelId="{1E6BB89C-D1BA-41FE-8954-6DFE1D2498A3}" srcId="{C507733C-816F-4F8A-9829-06D7196A786D}" destId="{7AED8EEF-11A1-4877-B497-C0365BFCA543}" srcOrd="1" destOrd="0" parTransId="{3EFFB08D-5784-402D-A4D7-4A55DEBAF256}" sibTransId="{49CB6E82-2E0B-4578-9922-D69074196CEE}"/>
    <dgm:cxn modelId="{377536A1-2AED-4A5B-88DC-CCCE03DF9D69}" type="presOf" srcId="{872653DB-3891-4EF3-BD26-9A76E5655C32}" destId="{AECE4EB0-565B-4EAE-97B9-7E66F857D391}" srcOrd="0" destOrd="0" presId="urn:microsoft.com/office/officeart/2008/layout/LinedList"/>
    <dgm:cxn modelId="{17D822B2-956A-4AFF-A007-0FD02DAE0D03}" srcId="{517F5512-47A5-4E8F-AAE2-421BE5AEC2B4}" destId="{26A1250B-BDC4-4ED4-9255-C803D62C0563}" srcOrd="2" destOrd="0" parTransId="{E90320AA-CFE5-46BD-A38F-AADE328A6959}" sibTransId="{A129E80F-5754-4E5E-8401-052AFE8725D4}"/>
    <dgm:cxn modelId="{A3B985B2-BEA1-453E-B4EE-7D09018F00DB}" srcId="{C507733C-816F-4F8A-9829-06D7196A786D}" destId="{517F5512-47A5-4E8F-AAE2-421BE5AEC2B4}" srcOrd="2" destOrd="0" parTransId="{C4B2FA86-3541-4361-ADFD-EA3C1A351F67}" sibTransId="{153B64AE-2F0E-4889-866D-53A16034C0C5}"/>
    <dgm:cxn modelId="{6CFAD6BB-AF1B-4272-BBA3-1580411ECE9F}" type="presOf" srcId="{B639A575-A1D9-40A1-A5FA-6089BF30228E}" destId="{BA712141-22A0-40C7-A718-2812869E7782}" srcOrd="0" destOrd="0" presId="urn:microsoft.com/office/officeart/2008/layout/LinedList"/>
    <dgm:cxn modelId="{02C307C1-ECE5-46C0-9909-B0B06D9F27A5}" type="presOf" srcId="{06F9C310-87A9-4DC2-A62D-6D5D56642673}" destId="{AFD11C74-6746-46A0-88D5-BFD4BBC3FB81}" srcOrd="0" destOrd="0" presId="urn:microsoft.com/office/officeart/2008/layout/LinedList"/>
    <dgm:cxn modelId="{C583CFD0-4FAF-44B6-8DF5-24EC6B7B21B5}" srcId="{517F5512-47A5-4E8F-AAE2-421BE5AEC2B4}" destId="{4A9FDFB3-9CB5-4ED4-803F-C58E4EFEDF93}" srcOrd="3" destOrd="0" parTransId="{108DBA01-917B-4494-A9DB-E2120A019C6E}" sibTransId="{0822B521-B437-4BCF-970C-C13AEA469C95}"/>
    <dgm:cxn modelId="{159960E6-6607-44F2-85DD-3BCA18F0811A}" srcId="{517F5512-47A5-4E8F-AAE2-421BE5AEC2B4}" destId="{CF8BD16C-4F5A-489A-9188-232D2E699BD4}" srcOrd="5" destOrd="0" parTransId="{E444AD10-131E-42A0-8C1B-3CB713C56360}" sibTransId="{1A24A28F-6971-4E3E-9BE7-46CF3C54F663}"/>
    <dgm:cxn modelId="{67DF2BEF-8B92-4A2E-8E33-77470A8EBBB5}" type="presOf" srcId="{C507733C-816F-4F8A-9829-06D7196A786D}" destId="{EC941DCA-A033-4A94-ACFD-0077772CB467}" srcOrd="0" destOrd="0" presId="urn:microsoft.com/office/officeart/2008/layout/LinedList"/>
    <dgm:cxn modelId="{2C42DDAC-5074-4090-B053-AB1AF871B218}" type="presParOf" srcId="{EC941DCA-A033-4A94-ACFD-0077772CB467}" destId="{572A3685-C511-4539-929B-EA6FD712DE59}" srcOrd="0" destOrd="0" presId="urn:microsoft.com/office/officeart/2008/layout/LinedList"/>
    <dgm:cxn modelId="{59E53377-0950-4488-A76F-DD5F91EE4092}" type="presParOf" srcId="{EC941DCA-A033-4A94-ACFD-0077772CB467}" destId="{A3CC855C-2303-4654-8FF0-51BB63AD09CF}" srcOrd="1" destOrd="0" presId="urn:microsoft.com/office/officeart/2008/layout/LinedList"/>
    <dgm:cxn modelId="{B32EF7B8-FE42-46FD-941B-27211B8F99B0}" type="presParOf" srcId="{A3CC855C-2303-4654-8FF0-51BB63AD09CF}" destId="{AFD11C74-6746-46A0-88D5-BFD4BBC3FB81}" srcOrd="0" destOrd="0" presId="urn:microsoft.com/office/officeart/2008/layout/LinedList"/>
    <dgm:cxn modelId="{23AAF892-8544-4B1F-8FF4-84F31BD89B6D}" type="presParOf" srcId="{A3CC855C-2303-4654-8FF0-51BB63AD09CF}" destId="{54C4A5AE-426A-45B8-8EBB-DD33CB311E4D}" srcOrd="1" destOrd="0" presId="urn:microsoft.com/office/officeart/2008/layout/LinedList"/>
    <dgm:cxn modelId="{7AEF3E05-4D39-487C-A442-F4FE9C79DB55}" type="presParOf" srcId="{EC941DCA-A033-4A94-ACFD-0077772CB467}" destId="{F4F9168C-7CA4-495C-B93A-A90DDCE7058C}" srcOrd="2" destOrd="0" presId="urn:microsoft.com/office/officeart/2008/layout/LinedList"/>
    <dgm:cxn modelId="{EA76A328-17F7-4CA5-88FD-253128172A58}" type="presParOf" srcId="{EC941DCA-A033-4A94-ACFD-0077772CB467}" destId="{DB57486D-3B67-424D-BCE0-7BF65F648E39}" srcOrd="3" destOrd="0" presId="urn:microsoft.com/office/officeart/2008/layout/LinedList"/>
    <dgm:cxn modelId="{B3A476EB-415E-45C4-A273-40E0498604F5}" type="presParOf" srcId="{DB57486D-3B67-424D-BCE0-7BF65F648E39}" destId="{021A7BBC-31F7-4D0B-8F8A-0C99BB366F87}" srcOrd="0" destOrd="0" presId="urn:microsoft.com/office/officeart/2008/layout/LinedList"/>
    <dgm:cxn modelId="{A122834B-4DE8-4801-9D85-A8B44BD8705C}" type="presParOf" srcId="{DB57486D-3B67-424D-BCE0-7BF65F648E39}" destId="{8F866749-0EC7-40FC-A4EE-2A0B567A6F09}" srcOrd="1" destOrd="0" presId="urn:microsoft.com/office/officeart/2008/layout/LinedList"/>
    <dgm:cxn modelId="{ABAC1C0E-E3AF-4E9C-8196-B661A5B66922}" type="presParOf" srcId="{EC941DCA-A033-4A94-ACFD-0077772CB467}" destId="{1021B610-2F2D-4B7A-A38B-A1283401091C}" srcOrd="4" destOrd="0" presId="urn:microsoft.com/office/officeart/2008/layout/LinedList"/>
    <dgm:cxn modelId="{B99C767D-E20B-49E2-9D3C-3F54476ECA91}" type="presParOf" srcId="{EC941DCA-A033-4A94-ACFD-0077772CB467}" destId="{9EE623BC-87AB-4873-9B87-D303F81AEC2A}" srcOrd="5" destOrd="0" presId="urn:microsoft.com/office/officeart/2008/layout/LinedList"/>
    <dgm:cxn modelId="{BAD92855-8BF6-42E5-9DA8-9EF0F8C0C49D}" type="presParOf" srcId="{9EE623BC-87AB-4873-9B87-D303F81AEC2A}" destId="{C84C35AC-ED2D-4A57-92B5-DBA813E94C33}" srcOrd="0" destOrd="0" presId="urn:microsoft.com/office/officeart/2008/layout/LinedList"/>
    <dgm:cxn modelId="{5D8BE3DC-BAAB-4929-8836-B83A7A61E560}" type="presParOf" srcId="{9EE623BC-87AB-4873-9B87-D303F81AEC2A}" destId="{A3D47CB7-9022-4279-844C-61700B305F23}" srcOrd="1" destOrd="0" presId="urn:microsoft.com/office/officeart/2008/layout/LinedList"/>
    <dgm:cxn modelId="{93E61EF0-B6D9-46BF-8CF3-1F570C9739BE}" type="presParOf" srcId="{A3D47CB7-9022-4279-844C-61700B305F23}" destId="{A0BA5104-3021-4CCF-828D-9992D3FECA47}" srcOrd="0" destOrd="0" presId="urn:microsoft.com/office/officeart/2008/layout/LinedList"/>
    <dgm:cxn modelId="{E44B1B07-88A8-4397-AF61-D722FBA7BC4D}" type="presParOf" srcId="{A3D47CB7-9022-4279-844C-61700B305F23}" destId="{018C4FB7-9191-4C5E-8EEF-AAED44170A6C}" srcOrd="1" destOrd="0" presId="urn:microsoft.com/office/officeart/2008/layout/LinedList"/>
    <dgm:cxn modelId="{C4353991-0753-408B-A919-62BF34CB57A9}" type="presParOf" srcId="{018C4FB7-9191-4C5E-8EEF-AAED44170A6C}" destId="{58A4857F-4481-4B39-819E-9CF713133E7C}" srcOrd="0" destOrd="0" presId="urn:microsoft.com/office/officeart/2008/layout/LinedList"/>
    <dgm:cxn modelId="{EA0E4283-B647-4B8B-B2E2-1779553CCA11}" type="presParOf" srcId="{018C4FB7-9191-4C5E-8EEF-AAED44170A6C}" destId="{BA712141-22A0-40C7-A718-2812869E7782}" srcOrd="1" destOrd="0" presId="urn:microsoft.com/office/officeart/2008/layout/LinedList"/>
    <dgm:cxn modelId="{DB69E00B-7217-407F-B624-A8A705862D78}" type="presParOf" srcId="{018C4FB7-9191-4C5E-8EEF-AAED44170A6C}" destId="{C050792C-0891-42FC-833C-0BF87687D0D8}" srcOrd="2" destOrd="0" presId="urn:microsoft.com/office/officeart/2008/layout/LinedList"/>
    <dgm:cxn modelId="{20300DCE-E87A-4433-8700-5582B11D98BA}" type="presParOf" srcId="{A3D47CB7-9022-4279-844C-61700B305F23}" destId="{B4644FC6-B0F2-41D2-87F2-3AD9F14353CF}" srcOrd="2" destOrd="0" presId="urn:microsoft.com/office/officeart/2008/layout/LinedList"/>
    <dgm:cxn modelId="{2B910CE2-3A18-4853-9479-00608414A605}" type="presParOf" srcId="{A3D47CB7-9022-4279-844C-61700B305F23}" destId="{56B5C27D-7728-4085-89CC-794DC037E7E2}" srcOrd="3" destOrd="0" presId="urn:microsoft.com/office/officeart/2008/layout/LinedList"/>
    <dgm:cxn modelId="{5D434597-B378-4149-B78D-0B990E2C7053}" type="presParOf" srcId="{A3D47CB7-9022-4279-844C-61700B305F23}" destId="{C1360F9B-5152-4346-AF49-4B4D5467FF9B}" srcOrd="4" destOrd="0" presId="urn:microsoft.com/office/officeart/2008/layout/LinedList"/>
    <dgm:cxn modelId="{E7CCEF08-6234-4521-8C35-51C0E3B00347}" type="presParOf" srcId="{C1360F9B-5152-4346-AF49-4B4D5467FF9B}" destId="{6B0D4659-D13F-45AD-9C92-70366D162D99}" srcOrd="0" destOrd="0" presId="urn:microsoft.com/office/officeart/2008/layout/LinedList"/>
    <dgm:cxn modelId="{41AC2CC8-DF53-4983-9901-0C0B15DE79DA}" type="presParOf" srcId="{C1360F9B-5152-4346-AF49-4B4D5467FF9B}" destId="{AECE4EB0-565B-4EAE-97B9-7E66F857D391}" srcOrd="1" destOrd="0" presId="urn:microsoft.com/office/officeart/2008/layout/LinedList"/>
    <dgm:cxn modelId="{1DA66903-7A9D-45CD-B786-FD049B515EA7}" type="presParOf" srcId="{C1360F9B-5152-4346-AF49-4B4D5467FF9B}" destId="{23D9FFBC-1B6D-4322-86BE-73AC9AC0B72C}" srcOrd="2" destOrd="0" presId="urn:microsoft.com/office/officeart/2008/layout/LinedList"/>
    <dgm:cxn modelId="{B1B7FB72-401E-4F7E-B1D3-6819F9A53A81}" type="presParOf" srcId="{A3D47CB7-9022-4279-844C-61700B305F23}" destId="{CDDB121C-31E5-42A1-9E0F-ACA48D2C2F66}" srcOrd="5" destOrd="0" presId="urn:microsoft.com/office/officeart/2008/layout/LinedList"/>
    <dgm:cxn modelId="{45EB50DC-F24F-4C78-A40B-E7B909453342}" type="presParOf" srcId="{A3D47CB7-9022-4279-844C-61700B305F23}" destId="{02E9B1D6-F78D-4BBA-8AF5-F7B7028F9291}" srcOrd="6" destOrd="0" presId="urn:microsoft.com/office/officeart/2008/layout/LinedList"/>
    <dgm:cxn modelId="{A6EBA4A9-EA9F-4467-925B-18A1B8A4D7E9}" type="presParOf" srcId="{A3D47CB7-9022-4279-844C-61700B305F23}" destId="{EB97F330-9642-4FC3-854E-E630F5CE6DF6}" srcOrd="7" destOrd="0" presId="urn:microsoft.com/office/officeart/2008/layout/LinedList"/>
    <dgm:cxn modelId="{39A8764C-8E64-46DE-B94B-FD1A59802D3F}" type="presParOf" srcId="{EB97F330-9642-4FC3-854E-E630F5CE6DF6}" destId="{F9FDEFC8-23EB-4749-A698-27292A07030A}" srcOrd="0" destOrd="0" presId="urn:microsoft.com/office/officeart/2008/layout/LinedList"/>
    <dgm:cxn modelId="{D6125F86-B26E-4E6B-8390-F6C4ED0105C5}" type="presParOf" srcId="{EB97F330-9642-4FC3-854E-E630F5CE6DF6}" destId="{C9101430-7E9A-40F2-A153-DB05078C5E02}" srcOrd="1" destOrd="0" presId="urn:microsoft.com/office/officeart/2008/layout/LinedList"/>
    <dgm:cxn modelId="{6089CB43-1643-4335-9EC2-2AF85DBCD366}" type="presParOf" srcId="{EB97F330-9642-4FC3-854E-E630F5CE6DF6}" destId="{56900490-303D-4BFF-98A5-D03CB6D2853F}" srcOrd="2" destOrd="0" presId="urn:microsoft.com/office/officeart/2008/layout/LinedList"/>
    <dgm:cxn modelId="{971F94FF-8AA6-421F-86B0-C4DF52EFB2AA}" type="presParOf" srcId="{A3D47CB7-9022-4279-844C-61700B305F23}" destId="{5AC9C186-2E73-4DA8-BE0F-544C899333E5}" srcOrd="8" destOrd="0" presId="urn:microsoft.com/office/officeart/2008/layout/LinedList"/>
    <dgm:cxn modelId="{4371B1FF-2F50-4313-A846-D8051CFCC171}" type="presParOf" srcId="{A3D47CB7-9022-4279-844C-61700B305F23}" destId="{6BA6A7FE-3452-44B4-9966-5E5C20BBDE29}" srcOrd="9" destOrd="0" presId="urn:microsoft.com/office/officeart/2008/layout/LinedList"/>
    <dgm:cxn modelId="{83730147-913E-4551-92D8-58197DE75E08}" type="presParOf" srcId="{A3D47CB7-9022-4279-844C-61700B305F23}" destId="{A9B7B915-14FC-4ACA-8E59-BADBAA48559E}" srcOrd="10" destOrd="0" presId="urn:microsoft.com/office/officeart/2008/layout/LinedList"/>
    <dgm:cxn modelId="{650936CD-2B6B-4003-89F0-6B04DDF94DE0}" type="presParOf" srcId="{A9B7B915-14FC-4ACA-8E59-BADBAA48559E}" destId="{A47D7468-1D02-4A08-9FA8-E753D79A7D2C}" srcOrd="0" destOrd="0" presId="urn:microsoft.com/office/officeart/2008/layout/LinedList"/>
    <dgm:cxn modelId="{E98B6512-632E-44AD-843D-F863F4F916BA}" type="presParOf" srcId="{A9B7B915-14FC-4ACA-8E59-BADBAA48559E}" destId="{209A80E3-F02C-4F72-9E7A-9FCD0D85AAEA}" srcOrd="1" destOrd="0" presId="urn:microsoft.com/office/officeart/2008/layout/LinedList"/>
    <dgm:cxn modelId="{1FD3E8B9-F183-47DD-87EB-10F99E2AA95D}" type="presParOf" srcId="{A9B7B915-14FC-4ACA-8E59-BADBAA48559E}" destId="{28D13088-6485-4BC0-AF7C-CCFFB1D1F8C8}" srcOrd="2" destOrd="0" presId="urn:microsoft.com/office/officeart/2008/layout/LinedList"/>
    <dgm:cxn modelId="{F4A0D2E8-C965-4295-98C6-7A0662DE0899}" type="presParOf" srcId="{A3D47CB7-9022-4279-844C-61700B305F23}" destId="{030D39B9-C3CB-4320-9DAB-CE81A436CD6D}" srcOrd="11" destOrd="0" presId="urn:microsoft.com/office/officeart/2008/layout/LinedList"/>
    <dgm:cxn modelId="{EDE0C33D-F79A-4D9D-90A1-4A3371DF3F9D}" type="presParOf" srcId="{A3D47CB7-9022-4279-844C-61700B305F23}" destId="{672729DA-AE95-4D89-B340-959D1DB7C42E}" srcOrd="12" destOrd="0" presId="urn:microsoft.com/office/officeart/2008/layout/LinedList"/>
    <dgm:cxn modelId="{D3AFB47D-6FDB-4741-805F-90EC3F9DBA25}" type="presParOf" srcId="{A3D47CB7-9022-4279-844C-61700B305F23}" destId="{7D53A858-E228-4E3A-9F85-92F94EF07FBE}" srcOrd="13" destOrd="0" presId="urn:microsoft.com/office/officeart/2008/layout/LinedList"/>
    <dgm:cxn modelId="{6BA23A69-2A6F-4BD3-8EAD-2B6A32C4F68B}" type="presParOf" srcId="{7D53A858-E228-4E3A-9F85-92F94EF07FBE}" destId="{10D0E2C2-95D9-40F8-B89B-913223CBEA20}" srcOrd="0" destOrd="0" presId="urn:microsoft.com/office/officeart/2008/layout/LinedList"/>
    <dgm:cxn modelId="{0E693117-67F3-499F-B665-AB4A2B674CB7}" type="presParOf" srcId="{7D53A858-E228-4E3A-9F85-92F94EF07FBE}" destId="{7DAB3596-6BFF-4E3D-9DF1-2B3481AEE3BA}" srcOrd="1" destOrd="0" presId="urn:microsoft.com/office/officeart/2008/layout/LinedList"/>
    <dgm:cxn modelId="{9FEC0C9B-C9CF-4AEA-BE6E-387D1290DFAF}" type="presParOf" srcId="{7D53A858-E228-4E3A-9F85-92F94EF07FBE}" destId="{460D4E7B-28D5-472D-8273-02BFA8836AC4}" srcOrd="2" destOrd="0" presId="urn:microsoft.com/office/officeart/2008/layout/LinedList"/>
    <dgm:cxn modelId="{C3CADA03-4C4B-426B-B7A5-B57B9C878B49}" type="presParOf" srcId="{A3D47CB7-9022-4279-844C-61700B305F23}" destId="{54D8B877-C743-4FFD-9A09-9CF3C2C790C7}" srcOrd="14" destOrd="0" presId="urn:microsoft.com/office/officeart/2008/layout/LinedList"/>
    <dgm:cxn modelId="{B8089FAB-D0F1-4CB2-8F75-3EE252BB4954}" type="presParOf" srcId="{A3D47CB7-9022-4279-844C-61700B305F23}" destId="{880B00E2-6D90-4E1E-9EDA-2D91D22D9149}" srcOrd="15" destOrd="0" presId="urn:microsoft.com/office/officeart/2008/layout/LinedList"/>
    <dgm:cxn modelId="{49C1C375-D962-4804-9BC8-9232863185B9}" type="presParOf" srcId="{A3D47CB7-9022-4279-844C-61700B305F23}" destId="{D80FB7A1-D3C6-4F8C-96C5-A89E3557BC2E}" srcOrd="16" destOrd="0" presId="urn:microsoft.com/office/officeart/2008/layout/LinedList"/>
    <dgm:cxn modelId="{ECF2BA94-7742-442A-AEE2-1DDA6CBAF8CA}" type="presParOf" srcId="{D80FB7A1-D3C6-4F8C-96C5-A89E3557BC2E}" destId="{C6FCE085-8565-4E6A-889A-8ABA2B0C746D}" srcOrd="0" destOrd="0" presId="urn:microsoft.com/office/officeart/2008/layout/LinedList"/>
    <dgm:cxn modelId="{942C1F42-1CD5-4B9D-ACC4-AD832F75462F}" type="presParOf" srcId="{D80FB7A1-D3C6-4F8C-96C5-A89E3557BC2E}" destId="{A0EAA6B9-4DAD-48B2-923F-376ABC62D987}" srcOrd="1" destOrd="0" presId="urn:microsoft.com/office/officeart/2008/layout/LinedList"/>
    <dgm:cxn modelId="{66E947A6-7978-4216-81BC-F71DDCBF3BA7}" type="presParOf" srcId="{D80FB7A1-D3C6-4F8C-96C5-A89E3557BC2E}" destId="{B3D5C9F6-1FC0-4AAD-A832-D7020FCDBBE5}" srcOrd="2" destOrd="0" presId="urn:microsoft.com/office/officeart/2008/layout/LinedList"/>
    <dgm:cxn modelId="{081FF06C-606A-4F84-AC5C-3E0C3019EE4D}" type="presParOf" srcId="{A3D47CB7-9022-4279-844C-61700B305F23}" destId="{F430D8D6-C994-434C-9B73-ECAE926DBC7C}" srcOrd="17" destOrd="0" presId="urn:microsoft.com/office/officeart/2008/layout/LinedList"/>
    <dgm:cxn modelId="{C30DA5EB-C938-44F1-BA84-F22D308907D6}" type="presParOf" srcId="{A3D47CB7-9022-4279-844C-61700B305F23}" destId="{DFA11AF7-C0A1-44EC-B006-959EA67DF462}" srcOrd="18" destOrd="0" presId="urn:microsoft.com/office/officeart/2008/layout/LinedList"/>
    <dgm:cxn modelId="{535CB69A-57FC-4E7E-8118-77698D5A61D5}" type="presParOf" srcId="{A3D47CB7-9022-4279-844C-61700B305F23}" destId="{2716EC7F-E4AE-4C1D-8A58-932D01383D78}" srcOrd="19" destOrd="0" presId="urn:microsoft.com/office/officeart/2008/layout/LinedList"/>
    <dgm:cxn modelId="{96F93722-3497-47B1-8E59-FFB8E8030052}" type="presParOf" srcId="{2716EC7F-E4AE-4C1D-8A58-932D01383D78}" destId="{9322066B-6254-49D2-9B8E-75D1D4897647}" srcOrd="0" destOrd="0" presId="urn:microsoft.com/office/officeart/2008/layout/LinedList"/>
    <dgm:cxn modelId="{3AB39773-4FB3-44A0-A197-F399BEEC94C8}" type="presParOf" srcId="{2716EC7F-E4AE-4C1D-8A58-932D01383D78}" destId="{038B0E8F-5D5C-4BD8-BEEC-6F070748212F}" srcOrd="1" destOrd="0" presId="urn:microsoft.com/office/officeart/2008/layout/LinedList"/>
    <dgm:cxn modelId="{1FA1712F-5870-4EFD-A91A-9F05F046069D}" type="presParOf" srcId="{2716EC7F-E4AE-4C1D-8A58-932D01383D78}" destId="{314E9009-C9BA-4FF1-BE4F-310216F4A4A1}" srcOrd="2" destOrd="0" presId="urn:microsoft.com/office/officeart/2008/layout/LinedList"/>
    <dgm:cxn modelId="{C399C9A6-0CF9-49A6-AB1E-4D119C804AB9}" type="presParOf" srcId="{A3D47CB7-9022-4279-844C-61700B305F23}" destId="{D0B27A23-279A-4ECD-83B3-F46D77061FF8}" srcOrd="20" destOrd="0" presId="urn:microsoft.com/office/officeart/2008/layout/LinedList"/>
    <dgm:cxn modelId="{58C16889-F37B-4EA5-B6B2-A67ABB237575}" type="presParOf" srcId="{A3D47CB7-9022-4279-844C-61700B305F23}" destId="{704F7056-5226-4EA0-8522-5023C701AD54}" srcOrd="2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A3685-C511-4539-929B-EA6FD712DE59}">
      <dsp:nvSpPr>
        <dsp:cNvPr id="0" name=""/>
        <dsp:cNvSpPr/>
      </dsp:nvSpPr>
      <dsp:spPr>
        <a:xfrm>
          <a:off x="0" y="2758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11C74-6746-46A0-88D5-BFD4BBC3FB81}">
      <dsp:nvSpPr>
        <dsp:cNvPr id="0" name=""/>
        <dsp:cNvSpPr/>
      </dsp:nvSpPr>
      <dsp:spPr>
        <a:xfrm>
          <a:off x="0" y="2758"/>
          <a:ext cx="679767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After Hyper Tuning  using GridSearchCV in Lasso, it comes to know alpha=0.1 is best Parameter.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After Hyper Tuning  using GridSearchCV in Random Forest, it comes to know max_features= 'auto', min_samples_split= 4, n_estimators= 20, are best parameters.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758"/>
        <a:ext cx="6797675" cy="1881464"/>
      </dsp:txXfrm>
    </dsp:sp>
    <dsp:sp modelId="{F4F9168C-7CA4-495C-B93A-A90DDCE7058C}">
      <dsp:nvSpPr>
        <dsp:cNvPr id="0" name=""/>
        <dsp:cNvSpPr/>
      </dsp:nvSpPr>
      <dsp:spPr>
        <a:xfrm>
          <a:off x="0" y="1884223"/>
          <a:ext cx="67976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A7BBC-31F7-4D0B-8F8A-0C99BB366F87}">
      <dsp:nvSpPr>
        <dsp:cNvPr id="0" name=""/>
        <dsp:cNvSpPr/>
      </dsp:nvSpPr>
      <dsp:spPr>
        <a:xfrm>
          <a:off x="0" y="1884223"/>
          <a:ext cx="679767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Accuracy Score of Lasso model is 85%.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Whereas Random Forest Regressor model has score about 97.4%.</a:t>
          </a:r>
          <a:endParaRPr lang="en-US" sz="1500" kern="1200" dirty="0"/>
        </a:p>
      </dsp:txBody>
      <dsp:txXfrm>
        <a:off x="0" y="1884223"/>
        <a:ext cx="6797675" cy="1881464"/>
      </dsp:txXfrm>
    </dsp:sp>
    <dsp:sp modelId="{1021B610-2F2D-4B7A-A38B-A1283401091C}">
      <dsp:nvSpPr>
        <dsp:cNvPr id="0" name=""/>
        <dsp:cNvSpPr/>
      </dsp:nvSpPr>
      <dsp:spPr>
        <a:xfrm>
          <a:off x="0" y="3765688"/>
          <a:ext cx="67976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4C35AC-ED2D-4A57-92B5-DBA813E94C33}">
      <dsp:nvSpPr>
        <dsp:cNvPr id="0" name=""/>
        <dsp:cNvSpPr/>
      </dsp:nvSpPr>
      <dsp:spPr>
        <a:xfrm>
          <a:off x="0" y="3765688"/>
          <a:ext cx="1359535" cy="1881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Some important features which decide price either in positive or negative way are-</a:t>
          </a:r>
          <a:endParaRPr lang="en-US" sz="1500" kern="1200" dirty="0"/>
        </a:p>
      </dsp:txBody>
      <dsp:txXfrm>
        <a:off x="0" y="3765688"/>
        <a:ext cx="1359535" cy="1881464"/>
      </dsp:txXfrm>
    </dsp:sp>
    <dsp:sp modelId="{BA712141-22A0-40C7-A718-2812869E7782}">
      <dsp:nvSpPr>
        <dsp:cNvPr id="0" name=""/>
        <dsp:cNvSpPr/>
      </dsp:nvSpPr>
      <dsp:spPr>
        <a:xfrm>
          <a:off x="1461500" y="3778389"/>
          <a:ext cx="5336174" cy="254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LotArea: </a:t>
          </a:r>
          <a:r>
            <a:rPr lang="en-US" sz="1200" kern="1200"/>
            <a:t>Lot size in square feet</a:t>
          </a:r>
          <a:r>
            <a:rPr lang="en-IN" sz="1200" kern="1200"/>
            <a:t>  </a:t>
          </a:r>
          <a:endParaRPr lang="en-US" sz="1200" kern="1200"/>
        </a:p>
      </dsp:txBody>
      <dsp:txXfrm>
        <a:off x="1461500" y="3778389"/>
        <a:ext cx="5336174" cy="254016"/>
      </dsp:txXfrm>
    </dsp:sp>
    <dsp:sp modelId="{B4644FC6-B0F2-41D2-87F2-3AD9F14353CF}">
      <dsp:nvSpPr>
        <dsp:cNvPr id="0" name=""/>
        <dsp:cNvSpPr/>
      </dsp:nvSpPr>
      <dsp:spPr>
        <a:xfrm>
          <a:off x="1359534" y="4032405"/>
          <a:ext cx="54381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E4EB0-565B-4EAE-97B9-7E66F857D391}">
      <dsp:nvSpPr>
        <dsp:cNvPr id="0" name=""/>
        <dsp:cNvSpPr/>
      </dsp:nvSpPr>
      <dsp:spPr>
        <a:xfrm>
          <a:off x="1461500" y="4045106"/>
          <a:ext cx="5336174" cy="254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BuildingType: Type of dwelling </a:t>
          </a:r>
          <a:endParaRPr lang="en-US" sz="1200" kern="1200"/>
        </a:p>
      </dsp:txBody>
      <dsp:txXfrm>
        <a:off x="1461500" y="4045106"/>
        <a:ext cx="5336174" cy="254016"/>
      </dsp:txXfrm>
    </dsp:sp>
    <dsp:sp modelId="{CDDB121C-31E5-42A1-9E0F-ACA48D2C2F66}">
      <dsp:nvSpPr>
        <dsp:cNvPr id="0" name=""/>
        <dsp:cNvSpPr/>
      </dsp:nvSpPr>
      <dsp:spPr>
        <a:xfrm>
          <a:off x="1359534" y="4299122"/>
          <a:ext cx="54381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01430-7E9A-40F2-A153-DB05078C5E02}">
      <dsp:nvSpPr>
        <dsp:cNvPr id="0" name=""/>
        <dsp:cNvSpPr/>
      </dsp:nvSpPr>
      <dsp:spPr>
        <a:xfrm>
          <a:off x="1461500" y="4311823"/>
          <a:ext cx="5336174" cy="254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House Style: Style of dwelling) </a:t>
          </a:r>
          <a:endParaRPr lang="en-US" sz="1200" kern="1200"/>
        </a:p>
      </dsp:txBody>
      <dsp:txXfrm>
        <a:off x="1461500" y="4311823"/>
        <a:ext cx="5336174" cy="254016"/>
      </dsp:txXfrm>
    </dsp:sp>
    <dsp:sp modelId="{5AC9C186-2E73-4DA8-BE0F-544C899333E5}">
      <dsp:nvSpPr>
        <dsp:cNvPr id="0" name=""/>
        <dsp:cNvSpPr/>
      </dsp:nvSpPr>
      <dsp:spPr>
        <a:xfrm>
          <a:off x="1359534" y="4565839"/>
          <a:ext cx="54381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9A80E3-F02C-4F72-9E7A-9FCD0D85AAEA}">
      <dsp:nvSpPr>
        <dsp:cNvPr id="0" name=""/>
        <dsp:cNvSpPr/>
      </dsp:nvSpPr>
      <dsp:spPr>
        <a:xfrm>
          <a:off x="1461500" y="4578540"/>
          <a:ext cx="5336174" cy="254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OverallQual: Rates the overall material and finish of the house</a:t>
          </a:r>
        </a:p>
      </dsp:txBody>
      <dsp:txXfrm>
        <a:off x="1461500" y="4578540"/>
        <a:ext cx="5336174" cy="254016"/>
      </dsp:txXfrm>
    </dsp:sp>
    <dsp:sp modelId="{030D39B9-C3CB-4320-9DAB-CE81A436CD6D}">
      <dsp:nvSpPr>
        <dsp:cNvPr id="0" name=""/>
        <dsp:cNvSpPr/>
      </dsp:nvSpPr>
      <dsp:spPr>
        <a:xfrm>
          <a:off x="1359534" y="4832556"/>
          <a:ext cx="54381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AB3596-6BFF-4E3D-9DF1-2B3481AEE3BA}">
      <dsp:nvSpPr>
        <dsp:cNvPr id="0" name=""/>
        <dsp:cNvSpPr/>
      </dsp:nvSpPr>
      <dsp:spPr>
        <a:xfrm>
          <a:off x="1461500" y="4845256"/>
          <a:ext cx="5336174" cy="254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GrLivArea: </a:t>
          </a:r>
          <a:r>
            <a:rPr lang="en-US" sz="1200" kern="1200"/>
            <a:t>Above grade (ground) living area square feet</a:t>
          </a:r>
        </a:p>
      </dsp:txBody>
      <dsp:txXfrm>
        <a:off x="1461500" y="4845256"/>
        <a:ext cx="5336174" cy="254016"/>
      </dsp:txXfrm>
    </dsp:sp>
    <dsp:sp modelId="{54D8B877-C743-4FFD-9A09-9CF3C2C790C7}">
      <dsp:nvSpPr>
        <dsp:cNvPr id="0" name=""/>
        <dsp:cNvSpPr/>
      </dsp:nvSpPr>
      <dsp:spPr>
        <a:xfrm>
          <a:off x="1359534" y="5099273"/>
          <a:ext cx="54381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EAA6B9-4DAD-48B2-923F-376ABC62D987}">
      <dsp:nvSpPr>
        <dsp:cNvPr id="0" name=""/>
        <dsp:cNvSpPr/>
      </dsp:nvSpPr>
      <dsp:spPr>
        <a:xfrm>
          <a:off x="1461500" y="5111973"/>
          <a:ext cx="5336174" cy="254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Kitchen: Kitchens above grade</a:t>
          </a:r>
          <a:endParaRPr lang="en-US" sz="1200" kern="1200"/>
        </a:p>
      </dsp:txBody>
      <dsp:txXfrm>
        <a:off x="1461500" y="5111973"/>
        <a:ext cx="5336174" cy="254016"/>
      </dsp:txXfrm>
    </dsp:sp>
    <dsp:sp modelId="{F430D8D6-C994-434C-9B73-ECAE926DBC7C}">
      <dsp:nvSpPr>
        <dsp:cNvPr id="0" name=""/>
        <dsp:cNvSpPr/>
      </dsp:nvSpPr>
      <dsp:spPr>
        <a:xfrm>
          <a:off x="1359534" y="5365990"/>
          <a:ext cx="54381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B0E8F-5D5C-4BD8-BEEC-6F070748212F}">
      <dsp:nvSpPr>
        <dsp:cNvPr id="0" name=""/>
        <dsp:cNvSpPr/>
      </dsp:nvSpPr>
      <dsp:spPr>
        <a:xfrm>
          <a:off x="1461500" y="5378690"/>
          <a:ext cx="5336174" cy="254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GarageCars: </a:t>
          </a:r>
          <a:r>
            <a:rPr lang="en-US" sz="1200" kern="1200"/>
            <a:t>Size of garage in car capacity</a:t>
          </a:r>
        </a:p>
      </dsp:txBody>
      <dsp:txXfrm>
        <a:off x="1461500" y="5378690"/>
        <a:ext cx="5336174" cy="254016"/>
      </dsp:txXfrm>
    </dsp:sp>
    <dsp:sp modelId="{D0B27A23-279A-4ECD-83B3-F46D77061FF8}">
      <dsp:nvSpPr>
        <dsp:cNvPr id="0" name=""/>
        <dsp:cNvSpPr/>
      </dsp:nvSpPr>
      <dsp:spPr>
        <a:xfrm>
          <a:off x="1359534" y="5632706"/>
          <a:ext cx="54381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7/6/2021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7/6/2021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7/6/2021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7/6/2021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7/6/2021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7/6/2021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pPr algn="l"/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24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</a:rPr>
              <a:t>HOUSING: PRICE PREDICTION</a:t>
            </a:r>
            <a:br>
              <a:rPr lang="en-IN" sz="24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br>
              <a:rPr lang="en-IN" sz="24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IN" sz="24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600" b="0" i="0" u="none" strike="noStrike" baseline="0" dirty="0">
                <a:solidFill>
                  <a:schemeClr val="tx1"/>
                </a:solidFill>
              </a:rPr>
              <a:t>Surprise Housing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By- Anurag Kumar</a:t>
            </a:r>
            <a:endParaRPr lang="en-US" sz="16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703AA-819A-4693-BEC5-9C7D7CE31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306223"/>
          </a:xfrm>
        </p:spPr>
        <p:txBody>
          <a:bodyPr/>
          <a:lstStyle/>
          <a:p>
            <a:pPr algn="ctr"/>
            <a:r>
              <a:rPr lang="en-IN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85A2D-4D94-46B3-8699-39EE0E303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2108201"/>
            <a:ext cx="10723061" cy="3760891"/>
          </a:xfrm>
        </p:spPr>
        <p:txBody>
          <a:bodyPr/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US-based housing company named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Surprise Housing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has decided to enter the Australian market. The company is looking at prospective properties to buy houses to enter the market </a:t>
            </a: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The company uses data analytics to purchase houses at a price below their actual values and flip them at a higher price.</a:t>
            </a:r>
          </a:p>
        </p:txBody>
      </p:sp>
    </p:spTree>
    <p:extLst>
      <p:ext uri="{BB962C8B-B14F-4D97-AF65-F5344CB8AC3E}">
        <p14:creationId xmlns:p14="http://schemas.microsoft.com/office/powerpoint/2010/main" val="327576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A28E-2969-4015-85C6-4AE400E9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45551"/>
          </a:xfrm>
        </p:spPr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43DE-EF9F-4D43-B921-40C2F1315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2108201"/>
            <a:ext cx="10752557" cy="3879644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Build a model using Machine Learning in order to predict the actual value of the prospective properties.</a:t>
            </a:r>
          </a:p>
          <a:p>
            <a:pPr marL="0" indent="0" algn="l">
              <a:buNone/>
            </a:pP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Decide whether to invest in them or not.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Which variables are important to predict the price of variable?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]How do these variables describe the price of the house?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732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0229-F1E9-4348-8129-CDD159484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Steps Involved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91BBA-A5E0-46B6-9346-70676EDF2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Nan value treatment.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EDA for analysis of features.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Data Visualization.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Correlation Matrix.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Outlier Removal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Log Transformation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Label Encoder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Min Max Scaler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Regression Training </a:t>
            </a:r>
          </a:p>
        </p:txBody>
      </p:sp>
    </p:spTree>
    <p:extLst>
      <p:ext uri="{BB962C8B-B14F-4D97-AF65-F5344CB8AC3E}">
        <p14:creationId xmlns:p14="http://schemas.microsoft.com/office/powerpoint/2010/main" val="719352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13D2DF-D59F-417D-A94F-01C40F1019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55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33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75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58" name="Straight Connector 77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5F5D1-7F4C-4DCC-BF9E-F5964AD60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9" y="640080"/>
            <a:ext cx="3659246" cy="2862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Data Visualization- year sold vs sales count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7AF90C9F-7DE1-4669-9102-F24982148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69" y="3824516"/>
            <a:ext cx="3659246" cy="239340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cap="all" spc="200">
                <a:solidFill>
                  <a:srgbClr val="FFFFFF"/>
                </a:solidFill>
              </a:rPr>
              <a:t>Year 2010 has least number of sales compared to previous year.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CB09C76B-D726-417A-968D-7FCDDD76C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82335" y="1315601"/>
            <a:ext cx="6275667" cy="422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8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70EF2-913E-47D8-9DAC-2B22CAC7A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9" y="640080"/>
            <a:ext cx="3659246" cy="2862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'YrSold’ vs 'SalePrice'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FA081C2D-D4EC-4BEA-8EB8-E98B5166A4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82335" y="1138549"/>
            <a:ext cx="6275667" cy="4580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89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63158F-A128-4ECD-B106-9081F039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 Zoning: general zoning classification</a:t>
            </a:r>
            <a:br>
              <a:rPr lang="en-US" sz="3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40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68DF9E1-490A-4A85-991F-D26B6E719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52" y="2799654"/>
            <a:ext cx="3005462" cy="3541509"/>
          </a:xfrm>
        </p:spPr>
        <p:txBody>
          <a:bodyPr>
            <a:normAutofit fontScale="77500" lnSpcReduction="20000"/>
          </a:bodyPr>
          <a:lstStyle/>
          <a:p>
            <a:pPr marL="201168" lvl="1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	Agriculture</a:t>
            </a:r>
          </a:p>
          <a:p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	Commercial</a:t>
            </a:r>
          </a:p>
          <a:p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FV	Floating Village Residential</a:t>
            </a:r>
          </a:p>
          <a:p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I	Industrial</a:t>
            </a:r>
          </a:p>
          <a:p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RH	Residential High Density</a:t>
            </a:r>
          </a:p>
          <a:p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RL	Residential Low Density</a:t>
            </a:r>
          </a:p>
          <a:p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RP	Residential Low-Density         	Park </a:t>
            </a:r>
          </a:p>
          <a:p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RM	Residential Medium 	Density</a:t>
            </a:r>
          </a:p>
        </p:txBody>
      </p:sp>
      <p:pic>
        <p:nvPicPr>
          <p:cNvPr id="7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AB7F3CD8-4183-47DE-AFBB-54719314B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017" y="946368"/>
            <a:ext cx="6798082" cy="496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318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4D095-2D5D-4438-A773-504E8D042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257062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vs Median Sales Price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36DC1-1FA0-4400-BD90-A41A56AA1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057400"/>
            <a:ext cx="5127416" cy="616974"/>
          </a:xfrm>
        </p:spPr>
        <p:txBody>
          <a:bodyPr>
            <a:noAutofit/>
          </a:bodyPr>
          <a:lstStyle/>
          <a:p>
            <a:pPr algn="ctr"/>
            <a:r>
              <a:rPr lang="en-IN" sz="1600" cap="none" dirty="0">
                <a:latin typeface="Arial" panose="020B0604020202020204" pitchFamily="34" charset="0"/>
                <a:cs typeface="Arial" panose="020B0604020202020204" pitchFamily="34" charset="0"/>
              </a:rPr>
              <a:t>Street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392656-8100-480A-A0CA-946C6E6E7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5934" y="1986117"/>
            <a:ext cx="4689987" cy="616974"/>
          </a:xfrm>
        </p:spPr>
        <p:txBody>
          <a:bodyPr>
            <a:noAutofit/>
          </a:bodyPr>
          <a:lstStyle/>
          <a:p>
            <a:r>
              <a:rPr lang="en-IN" sz="1200" dirty="0"/>
              <a:t>                                        </a:t>
            </a:r>
            <a:r>
              <a:rPr lang="en-IN" sz="1200" cap="none" dirty="0">
                <a:latin typeface="Arial" panose="020B0604020202020204" pitchFamily="34" charset="0"/>
                <a:cs typeface="Arial" panose="020B0604020202020204" pitchFamily="34" charset="0"/>
              </a:rPr>
              <a:t>Type Of Dwelling</a:t>
            </a:r>
          </a:p>
          <a:p>
            <a:r>
              <a:rPr lang="en-IN" sz="1200" cap="none" dirty="0">
                <a:latin typeface="Arial" panose="020B0604020202020204" pitchFamily="34" charset="0"/>
                <a:cs typeface="Arial" panose="020B0604020202020204" pitchFamily="34" charset="0"/>
              </a:rPr>
              <a:t>1Fam -Single-family Detached, 2FmCon-Two-family Conversion</a:t>
            </a:r>
            <a:r>
              <a:rPr lang="en-IN" sz="1000" cap="non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9C33241-DACD-419E-9241-C3478A8048A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742" y="2762250"/>
            <a:ext cx="4549340" cy="326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9712C295-86B9-446F-A78D-CCA2B31B124E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363" y="2674375"/>
            <a:ext cx="4474559" cy="3194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996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703CE-3ECA-4F6F-BFEC-8D7EC501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Foundation: Type of foundation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Content Placeholder 6149">
            <a:extLst>
              <a:ext uri="{FF2B5EF4-FFF2-40B4-BE49-F238E27FC236}">
                <a16:creationId xmlns:a16="http://schemas.microsoft.com/office/drawing/2014/main" id="{170472A7-FA94-4017-87A4-531D5B906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2799654"/>
            <a:ext cx="3331408" cy="3404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BrkTil	Brick &amp; Tile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CBlock	Cinder Block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PConc	Poured Contrete	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Slab	Slab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Stone	Stone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Wood	Wood</a:t>
            </a: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C01676F2-E585-4D19-9CD0-AC028CC8F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700" y="1460500"/>
            <a:ext cx="6070600" cy="4622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668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8E6BD4-0510-4F02-803C-B1FB035F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9" y="640080"/>
            <a:ext cx="3659246" cy="2862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OverallQual: </a:t>
            </a:r>
            <a:br>
              <a:rPr lang="en-US" sz="3400">
                <a:solidFill>
                  <a:srgbClr val="FFFFFF"/>
                </a:solidFill>
              </a:rPr>
            </a:br>
            <a:r>
              <a:rPr lang="en-US" sz="3400">
                <a:solidFill>
                  <a:srgbClr val="FFFFFF"/>
                </a:solidFill>
              </a:rPr>
              <a:t>Overall material and finish of the house</a:t>
            </a:r>
            <a:br>
              <a:rPr lang="en-US" sz="3400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>
            <a:extLst>
              <a:ext uri="{FF2B5EF4-FFF2-40B4-BE49-F238E27FC236}">
                <a16:creationId xmlns:a16="http://schemas.microsoft.com/office/drawing/2014/main" id="{9BAAFACD-9181-462D-97B4-429067C9F4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82335" y="1262584"/>
            <a:ext cx="6275667" cy="433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095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C585A-BA45-42E8-82BB-1FEF89AC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516836"/>
            <a:ext cx="3100136" cy="19602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dirty="0">
                <a:solidFill>
                  <a:srgbClr val="51343E"/>
                </a:solidFill>
              </a:rPr>
              <a:t>Correlation Matrix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Content Placeholder 8197">
            <a:extLst>
              <a:ext uri="{FF2B5EF4-FFF2-40B4-BE49-F238E27FC236}">
                <a16:creationId xmlns:a16="http://schemas.microsoft.com/office/drawing/2014/main" id="{1C777D95-0C68-4B32-A0AB-450A99702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790855"/>
            <a:ext cx="3084844" cy="3311766"/>
          </a:xfrm>
        </p:spPr>
        <p:txBody>
          <a:bodyPr>
            <a:normAutofit/>
          </a:bodyPr>
          <a:lstStyle/>
          <a:p>
            <a:r>
              <a:rPr lang="en-US" sz="1600" dirty="0"/>
              <a:t>Overall Material Quality is strongly Positive correlated whereas </a:t>
            </a:r>
            <a:r>
              <a:rPr lang="en-US" sz="1600" dirty="0" err="1"/>
              <a:t>MoSold</a:t>
            </a:r>
            <a:r>
              <a:rPr lang="en-US" sz="1600" dirty="0"/>
              <a:t>: Month Sold has very low correlation with Sales Price.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109FD2E-8CF2-4CE7-A2F7-4988B8684F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94" r="-1" b="8844"/>
          <a:stretch/>
        </p:blipFill>
        <p:spPr bwMode="auto">
          <a:xfrm>
            <a:off x="4080728" y="10"/>
            <a:ext cx="811127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03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C752E-49BE-424B-A968-A6B4C8481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Outlier Treatment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6" name="Content Placeholder 10245">
            <a:extLst>
              <a:ext uri="{FF2B5EF4-FFF2-40B4-BE49-F238E27FC236}">
                <a16:creationId xmlns:a16="http://schemas.microsoft.com/office/drawing/2014/main" id="{BFA077A9-7ED4-40C5-98F4-095939D3C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52" y="2799654"/>
            <a:ext cx="3005462" cy="3189665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Using Quantile and Max and Min Limit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EC8D716-5EE6-48B9-9A0F-AC8F875E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017" y="1224217"/>
            <a:ext cx="6798082" cy="440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198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74">
            <a:extLst>
              <a:ext uri="{FF2B5EF4-FFF2-40B4-BE49-F238E27FC236}">
                <a16:creationId xmlns:a16="http://schemas.microsoft.com/office/drawing/2014/main" id="{61B2A784-4501-42A8-86DF-DB27DE395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256" cy="64008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B3A7E-6469-4DC8-AD02-8C236B9DF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772" y="1144980"/>
            <a:ext cx="5063458" cy="1560716"/>
          </a:xfrm>
        </p:spPr>
        <p:txBody>
          <a:bodyPr>
            <a:normAutofit/>
          </a:bodyPr>
          <a:lstStyle/>
          <a:p>
            <a:r>
              <a:rPr lang="en-IN" sz="4300" b="0" i="0">
                <a:effectLst/>
                <a:latin typeface="Helvetica Neue"/>
              </a:rPr>
              <a:t>Log Transformation for Normal </a:t>
            </a:r>
            <a:r>
              <a:rPr lang="en-IN" sz="4300">
                <a:latin typeface="Helvetica Neue"/>
              </a:rPr>
              <a:t>C</a:t>
            </a:r>
            <a:r>
              <a:rPr lang="en-IN" sz="4300" b="0" i="0">
                <a:effectLst/>
                <a:latin typeface="Helvetica Neue"/>
              </a:rPr>
              <a:t>urve</a:t>
            </a:r>
            <a:endParaRPr lang="en-IN" sz="4300"/>
          </a:p>
        </p:txBody>
      </p:sp>
      <p:sp>
        <p:nvSpPr>
          <p:cNvPr id="11271" name="Rectangle 76">
            <a:extLst>
              <a:ext uri="{FF2B5EF4-FFF2-40B4-BE49-F238E27FC236}">
                <a16:creationId xmlns:a16="http://schemas.microsoft.com/office/drawing/2014/main" id="{8A330AB8-A767-46C8-ABEF-2477854EF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5498" y="0"/>
            <a:ext cx="4901184" cy="402105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8" name="Picture 4" descr="Histogram&#10;&#10;Description automatically generated">
            <a:extLst>
              <a:ext uri="{FF2B5EF4-FFF2-40B4-BE49-F238E27FC236}">
                <a16:creationId xmlns:a16="http://schemas.microsoft.com/office/drawing/2014/main" id="{25F928A7-2BD3-40DC-87D3-AF4A61B09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7832" y="614366"/>
            <a:ext cx="4156516" cy="279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3" name="Rectangle 78">
            <a:extLst>
              <a:ext uri="{FF2B5EF4-FFF2-40B4-BE49-F238E27FC236}">
                <a16:creationId xmlns:a16="http://schemas.microsoft.com/office/drawing/2014/main" id="{88E62604-C40E-4D56-9D66-FD94B0CA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5498" y="4241249"/>
            <a:ext cx="4901184" cy="26167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93E73BEF-B204-4AC2-8F0D-301E8DE68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20034" y="4570358"/>
            <a:ext cx="3072113" cy="198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2" name="Content Placeholder 11271">
            <a:extLst>
              <a:ext uri="{FF2B5EF4-FFF2-40B4-BE49-F238E27FC236}">
                <a16:creationId xmlns:a16="http://schemas.microsoft.com/office/drawing/2014/main" id="{C0AA7097-AD26-4766-B560-1684991C7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6772" y="2978639"/>
            <a:ext cx="5063457" cy="2729196"/>
          </a:xfrm>
        </p:spPr>
        <p:txBody>
          <a:bodyPr>
            <a:normAutofit/>
          </a:bodyPr>
          <a:lstStyle/>
          <a:p>
            <a:r>
              <a:rPr lang="en-US" dirty="0"/>
              <a:t>for feature in num_features:</a:t>
            </a:r>
          </a:p>
          <a:p>
            <a:r>
              <a:rPr lang="en-US" dirty="0"/>
              <a:t>    df3[feature]= np.log1p(df3[feature])</a:t>
            </a:r>
          </a:p>
        </p:txBody>
      </p:sp>
    </p:spTree>
    <p:extLst>
      <p:ext uri="{BB962C8B-B14F-4D97-AF65-F5344CB8AC3E}">
        <p14:creationId xmlns:p14="http://schemas.microsoft.com/office/powerpoint/2010/main" val="3592758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EB4697-62A3-4D9C-8D53-B1B5A716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6432434" cy="1450757"/>
          </a:xfrm>
        </p:spPr>
        <p:txBody>
          <a:bodyPr>
            <a:normAutofit/>
          </a:bodyPr>
          <a:lstStyle/>
          <a:p>
            <a:r>
              <a:rPr lang="en-IN" dirty="0"/>
              <a:t>Label Encoding and Min Max Scaler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6240" y="2267421"/>
            <a:ext cx="60350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6AA21A7-5E4E-447A-AEEC-12594CD7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6432434" cy="3461658"/>
          </a:xfrm>
        </p:spPr>
        <p:txBody>
          <a:bodyPr>
            <a:normAutofit/>
          </a:bodyPr>
          <a:lstStyle/>
          <a:p>
            <a:r>
              <a:rPr lang="en-US" dirty="0"/>
              <a:t>First figure shows Label Encoding of categorical variables such as MsZoning, Street, Alley etc.</a:t>
            </a:r>
          </a:p>
          <a:p>
            <a:r>
              <a:rPr lang="en-US" dirty="0"/>
              <a:t>While Second figure depicts Min-Max Scaler, which changes all variables in same range.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B70D1FEC-511C-44EA-A7EA-1D6FB18530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01" r="32383"/>
          <a:stretch/>
        </p:blipFill>
        <p:spPr>
          <a:xfrm>
            <a:off x="7772484" y="3314277"/>
            <a:ext cx="4103569" cy="2616618"/>
          </a:xfrm>
          <a:prstGeom prst="rect">
            <a:avLst/>
          </a:prstGeom>
        </p:spPr>
      </p:pic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9F14EDA4-CA52-4BE6-813A-E3EB739CC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99" r="45190" b="-2"/>
          <a:stretch/>
        </p:blipFill>
        <p:spPr>
          <a:xfrm>
            <a:off x="7772484" y="462707"/>
            <a:ext cx="4103569" cy="261661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2712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C5A6D5-E153-4909-A815-CF4274602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r>
              <a:rPr lang="en-IN" sz="4000" b="0" i="0">
                <a:solidFill>
                  <a:srgbClr val="FFFFFF"/>
                </a:solidFill>
                <a:effectLst/>
                <a:latin typeface="Helvetica Neue"/>
              </a:rPr>
              <a:t>Lasso Regression Model</a:t>
            </a:r>
            <a:endParaRPr lang="en-IN" sz="4000">
              <a:solidFill>
                <a:srgbClr val="FFFFFF"/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Content Placeholder 12293">
            <a:extLst>
              <a:ext uri="{FF2B5EF4-FFF2-40B4-BE49-F238E27FC236}">
                <a16:creationId xmlns:a16="http://schemas.microsoft.com/office/drawing/2014/main" id="{029044ED-4E9A-4C32-950E-9D4A960E9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05" y="2799654"/>
            <a:ext cx="3521765" cy="3189665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Lasso selects the only some features while reduces the coefficients of others to zero.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444AFF0-8674-46D7-8794-6C7521E80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3400" y="640080"/>
            <a:ext cx="7593495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875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47308-63D8-40B1-A0F4-2EC1B1FEF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r>
              <a:rPr lang="en-IN" sz="1900" b="0" i="0" dirty="0">
                <a:solidFill>
                  <a:srgbClr val="FFFFFF"/>
                </a:solidFill>
                <a:effectLst/>
                <a:latin typeface="Helvetica Neue"/>
              </a:rPr>
              <a:t>Ensemble Technique</a:t>
            </a:r>
            <a:br>
              <a:rPr lang="en-IN" sz="1900" b="0" i="0" dirty="0">
                <a:solidFill>
                  <a:srgbClr val="FFFFFF"/>
                </a:solidFill>
                <a:effectLst/>
                <a:latin typeface="Helvetica Neue"/>
              </a:rPr>
            </a:br>
            <a:r>
              <a:rPr lang="en-IN" sz="1900" b="0" i="0" dirty="0">
                <a:solidFill>
                  <a:srgbClr val="FFFFFF"/>
                </a:solidFill>
                <a:effectLst/>
                <a:latin typeface="Helvetica Neue"/>
              </a:rPr>
              <a:t>Random Forest Regressor</a:t>
            </a:r>
            <a:endParaRPr lang="en-IN" sz="1900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15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440294-AF76-443D-A4A6-597678E88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52" y="2799654"/>
            <a:ext cx="3005462" cy="3189665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training, each tree in random forest learns from a random sample of housing data points. It is also known as bootstrapping.</a:t>
            </a:r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1739B31-02E1-49A0-8D75-CD3A55529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026" y="973394"/>
            <a:ext cx="6798082" cy="472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02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71EB90-E5AA-428D-B85F-A1D0BADC2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IN" sz="3600">
                <a:solidFill>
                  <a:schemeClr val="bg1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ECD073-FF5A-4707-99F8-150984B2F5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700231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659933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{7012345E-2EE9-4E45-ADAC-72C6A4E86FF4}tf22712842_win32</Template>
  <TotalTime>1470</TotalTime>
  <Words>565</Words>
  <Application>Microsoft Office PowerPoint</Application>
  <PresentationFormat>Widescreen</PresentationFormat>
  <Paragraphs>78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Bookman Old Style</vt:lpstr>
      <vt:lpstr>Calibri</vt:lpstr>
      <vt:lpstr>Franklin Gothic Book</vt:lpstr>
      <vt:lpstr>Helvetica Neue</vt:lpstr>
      <vt:lpstr>Times New Roman</vt:lpstr>
      <vt:lpstr>Wingdings</vt:lpstr>
      <vt:lpstr>1_RetrospectVTI</vt:lpstr>
      <vt:lpstr> HOUSING: PRICE PREDICTION   </vt:lpstr>
      <vt:lpstr>Background</vt:lpstr>
      <vt:lpstr>Problem Statement</vt:lpstr>
      <vt:lpstr>Steps Involved</vt:lpstr>
      <vt:lpstr>PowerPoint Presentation</vt:lpstr>
      <vt:lpstr>Data Visualization- year sold vs sales count</vt:lpstr>
      <vt:lpstr>'YrSold’ vs 'SalePrice'</vt:lpstr>
      <vt:lpstr>MS Zoning: general zoning classification </vt:lpstr>
      <vt:lpstr>Features vs Median Sales Price</vt:lpstr>
      <vt:lpstr>Foundation: Type of foundation</vt:lpstr>
      <vt:lpstr>OverallQual:  Overall material and finish of the house </vt:lpstr>
      <vt:lpstr>Correlation Matrix</vt:lpstr>
      <vt:lpstr>Outlier Treatment</vt:lpstr>
      <vt:lpstr>Log Transformation for Normal Curve</vt:lpstr>
      <vt:lpstr>Label Encoding and Min Max Scaler</vt:lpstr>
      <vt:lpstr>Lasso Regression Model</vt:lpstr>
      <vt:lpstr>Ensemble Technique Random Forest Regressor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Anurag</dc:creator>
  <cp:lastModifiedBy>Anurag</cp:lastModifiedBy>
  <cp:revision>27</cp:revision>
  <dcterms:created xsi:type="dcterms:W3CDTF">2021-07-01T06:19:23Z</dcterms:created>
  <dcterms:modified xsi:type="dcterms:W3CDTF">2021-07-06T08:59:09Z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